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0315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Presento el proyecto tal como estaba definido en la Fase 1: un framework metodológico de cumplimiento de la Ley N° 21.719, no una aplicación de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es real: se solicita eliminar datos y nunca se ejecuta. Los derechos ARCOP son Acceso, Rectificación, Cancelación, Oposición y Portabilidad.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ley se aplica a todas las organizaciones que operan en Chile, por eso el proyecto busca una herramienta metodológica clara y aplicable.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diferencia de un desarrollo de software tradicional, el aporte es un conjunto de procesos, matrices y controles verificables que una organización puede implementar.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objetivo general y cinco específicos, uno por cada componente del framework y uno para su validación.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proyecto se apoya en las competencias donde declaré mayor dominio: requisitos, gestión de proyectos y ciberseguridad/gestión de riesgos, y responde a mi interés de proyectarme en protección de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Metodología mixta: gestión ágil con Scrum adaptado a trabajo individual y, para cada objetivo, el método propio de la disciplina.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Sprint 0 cierra la Fase 1. Cada sprint produce un entregable verificable; el buffer de la última semana de noviembre absorbe atrasos sin comprometer la entrega.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evidencias son una propuesta, asociadas a cada sprint. El riesgo principal es la sobrecarga por trabajar sola, mitigado con el buffer.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 la Fase 1: lo siguiente es formalizar el alcance, crear el tablero y partir con el Sprint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y Protección de Datos Personales · Fase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del Proyecto APT · Fase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y Protección de Datos Personales: Framework Ley 21.719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Proyecto | </a:t>
            </a:r>
            <a:r>
              <a:rPr lang="en-US" sz="2000" dirty="0" err="1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2000" dirty="0" err="1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Plan de </a:t>
            </a:r>
            <a:r>
              <a:rPr lang="en-US" sz="2000" dirty="0" err="1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7548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Josefa Vallejos Sánchez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 · Capstone (PTY4614)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Yerko Paredes Orellana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</a:t>
            </a:r>
            <a:r>
              <a:rPr lang="en-US" sz="1200" i="1" dirty="0" err="1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</a:t>
            </a:r>
            <a:r>
              <a:rPr lang="en-US" sz="12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Fase 1</a:t>
            </a:r>
            <a:endParaRPr lang="en-US" sz="1200" dirty="0"/>
          </a:p>
        </p:txBody>
      </p:sp>
      <p:sp>
        <p:nvSpPr>
          <p:cNvPr id="7" name="emblema fondo"/>
          <p:cNvSpPr/>
          <p:nvPr/>
        </p:nvSpPr>
        <p:spPr>
          <a:xfrm>
            <a:off x="8686800" y="1463040"/>
            <a:ext cx="2926080" cy="2926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8" name="emblema protección de datos" descr="Escudo de protección de dat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2194560"/>
            <a:ext cx="1463040" cy="1463040"/>
          </a:xfrm>
          <a:prstGeom prst="rect">
            <a:avLst/>
          </a:prstGeom>
        </p:spPr>
      </p:pic>
      <p:sp>
        <p:nvSpPr>
          <p:cNvPr id="10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 Derechos Sin Procesos que los Respalden</a:t>
            </a:r>
            <a:endParaRPr lang="en-US" sz="3200" dirty="0"/>
          </a:p>
        </p:txBody>
      </p:sp>
      <p:sp>
        <p:nvSpPr>
          <p:cNvPr id="3" name="Solicitudes que nunca se ejecutan fondo"/>
          <p:cNvSpPr/>
          <p:nvPr/>
        </p:nvSpPr>
        <p:spPr>
          <a:xfrm>
            <a:off x="548640" y="15544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4" name="Solicitudes que nunca se ejecutan" descr="Solicitudes que nunca se ejecut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7602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que nunca se ejecutan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9659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pide eliminar su información y la solicitud queda sin respuesta.</a:t>
            </a:r>
            <a:endParaRPr lang="en-US" sz="1600" dirty="0"/>
          </a:p>
        </p:txBody>
      </p:sp>
      <p:sp>
        <p:nvSpPr>
          <p:cNvPr id="7" name="Datos expuestos indefinidamente fondo"/>
          <p:cNvSpPr/>
          <p:nvPr/>
        </p:nvSpPr>
        <p:spPr>
          <a:xfrm>
            <a:off x="548640" y="30175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8" name="Datos expuestos indefinidamente" descr="Datos expuestos indefinidamen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2232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expuestos indefinidamente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645920" y="3429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personal y sensible permanece accesible sin control ni plazo.</a:t>
            </a:r>
            <a:endParaRPr lang="en-US" sz="1600" dirty="0"/>
          </a:p>
        </p:txBody>
      </p:sp>
      <p:sp>
        <p:nvSpPr>
          <p:cNvPr id="11" name="Sin canal transparente de seguimiento fondo"/>
          <p:cNvSpPr/>
          <p:nvPr/>
        </p:nvSpPr>
        <p:spPr>
          <a:xfrm>
            <a:off x="548640" y="44805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2" name="Sin canal transparente de seguimiento" descr="Sin canal transparente de seguimient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46863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4592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canal transparente de seguimiento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645920" y="48920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organizaciones no cuentan con procesos claros para gestionar los derechos ARCOP.</a:t>
            </a:r>
            <a:endParaRPr lang="en-US" sz="1600" dirty="0"/>
          </a:p>
        </p:txBody>
      </p:sp>
      <p:sp>
        <p:nvSpPr>
          <p:cNvPr id="15" name="panel ARCOP"/>
          <p:cNvSpPr/>
          <p:nvPr/>
        </p:nvSpPr>
        <p:spPr>
          <a:xfrm>
            <a:off x="7680960" y="1463040"/>
            <a:ext cx="3959352" cy="448056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1"/>
          <p:cNvSpPr txBox="1"/>
          <p:nvPr/>
        </p:nvSpPr>
        <p:spPr>
          <a:xfrm>
            <a:off x="7680960" y="1645920"/>
            <a:ext cx="3959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Derechos ARCOP</a:t>
            </a:r>
            <a:endParaRPr lang="en-US" sz="2000" dirty="0"/>
          </a:p>
        </p:txBody>
      </p:sp>
      <p:sp>
        <p:nvSpPr>
          <p:cNvPr id="17" name="letra A"/>
          <p:cNvSpPr/>
          <p:nvPr/>
        </p:nvSpPr>
        <p:spPr>
          <a:xfrm>
            <a:off x="8138160" y="22402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Text 13"/>
          <p:cNvSpPr txBox="1"/>
          <p:nvPr/>
        </p:nvSpPr>
        <p:spPr>
          <a:xfrm>
            <a:off x="81381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8915400" y="2240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</a:t>
            </a:r>
            <a:endParaRPr lang="en-US" sz="1800" dirty="0"/>
          </a:p>
        </p:txBody>
      </p:sp>
      <p:sp>
        <p:nvSpPr>
          <p:cNvPr id="20" name="letra R"/>
          <p:cNvSpPr/>
          <p:nvPr/>
        </p:nvSpPr>
        <p:spPr>
          <a:xfrm>
            <a:off x="8138160" y="29718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6"/>
          <p:cNvSpPr txBox="1"/>
          <p:nvPr/>
        </p:nvSpPr>
        <p:spPr>
          <a:xfrm>
            <a:off x="813816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8915400" y="2971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Rectificación</a:t>
            </a:r>
            <a:endParaRPr lang="en-US" sz="1800" dirty="0"/>
          </a:p>
        </p:txBody>
      </p:sp>
      <p:sp>
        <p:nvSpPr>
          <p:cNvPr id="23" name="letra C"/>
          <p:cNvSpPr/>
          <p:nvPr/>
        </p:nvSpPr>
        <p:spPr>
          <a:xfrm>
            <a:off x="8138160" y="3703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19"/>
          <p:cNvSpPr txBox="1"/>
          <p:nvPr/>
        </p:nvSpPr>
        <p:spPr>
          <a:xfrm>
            <a:off x="813816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8915400" y="3703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Cancelación</a:t>
            </a:r>
            <a:endParaRPr lang="en-US" sz="1800" dirty="0"/>
          </a:p>
        </p:txBody>
      </p:sp>
      <p:sp>
        <p:nvSpPr>
          <p:cNvPr id="26" name="letra O"/>
          <p:cNvSpPr/>
          <p:nvPr/>
        </p:nvSpPr>
        <p:spPr>
          <a:xfrm>
            <a:off x="8138160" y="44348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Text 22"/>
          <p:cNvSpPr txBox="1"/>
          <p:nvPr/>
        </p:nvSpPr>
        <p:spPr>
          <a:xfrm>
            <a:off x="813816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000" dirty="0"/>
          </a:p>
        </p:txBody>
      </p:sp>
      <p:sp>
        <p:nvSpPr>
          <p:cNvPr id="28" name="Text 23"/>
          <p:cNvSpPr txBox="1"/>
          <p:nvPr/>
        </p:nvSpPr>
        <p:spPr>
          <a:xfrm>
            <a:off x="8915400" y="4434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Oposición</a:t>
            </a:r>
            <a:endParaRPr lang="en-US" sz="1800" dirty="0"/>
          </a:p>
        </p:txBody>
      </p:sp>
      <p:sp>
        <p:nvSpPr>
          <p:cNvPr id="29" name="letra P"/>
          <p:cNvSpPr/>
          <p:nvPr/>
        </p:nvSpPr>
        <p:spPr>
          <a:xfrm>
            <a:off x="8138160" y="51663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0" name="Text 25"/>
          <p:cNvSpPr txBox="1"/>
          <p:nvPr/>
        </p:nvSpPr>
        <p:spPr>
          <a:xfrm>
            <a:off x="813816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31" name="Text 26"/>
          <p:cNvSpPr txBox="1"/>
          <p:nvPr/>
        </p:nvSpPr>
        <p:spPr>
          <a:xfrm>
            <a:off x="8915400" y="5166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</a:t>
            </a:r>
            <a:endParaRPr lang="en-US" sz="18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Nueva Ley que Obliga a Todas las Organizaciones</a:t>
            </a:r>
            <a:endParaRPr lang="en-US" sz="3200" dirty="0"/>
          </a:p>
        </p:txBody>
      </p:sp>
      <p:sp>
        <p:nvSpPr>
          <p:cNvPr id="3" name="tarjeta Ley N° 21.719"/>
          <p:cNvSpPr/>
          <p:nvPr/>
        </p:nvSpPr>
        <p:spPr>
          <a:xfrm>
            <a:off x="548640" y="1554480"/>
            <a:ext cx="3520440" cy="3840480"/>
          </a:xfrm>
          <a:prstGeom prst="roundRect">
            <a:avLst>
              <a:gd name="adj" fmla="val 38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Ley N° 21.719 fondo"/>
          <p:cNvSpPr/>
          <p:nvPr/>
        </p:nvSpPr>
        <p:spPr>
          <a:xfrm>
            <a:off x="1897380" y="18288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5" name="Ley N° 21.719" descr="Ley N° 21.7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0345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N° 21.719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47472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ley de Protección de Datos Personales, publicada y vigente, con texto público y estable.</a:t>
            </a:r>
            <a:endParaRPr lang="en-US" sz="1800" dirty="0"/>
          </a:p>
        </p:txBody>
      </p:sp>
      <p:sp>
        <p:nvSpPr>
          <p:cNvPr id="8" name="tarjeta Todas las Organizaciones"/>
          <p:cNvSpPr/>
          <p:nvPr/>
        </p:nvSpPr>
        <p:spPr>
          <a:xfrm>
            <a:off x="4334256" y="1554480"/>
            <a:ext cx="3520440" cy="3840480"/>
          </a:xfrm>
          <a:prstGeom prst="roundRect">
            <a:avLst>
              <a:gd name="adj" fmla="val 38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odas las Organizaciones fondo"/>
          <p:cNvSpPr/>
          <p:nvPr/>
        </p:nvSpPr>
        <p:spPr>
          <a:xfrm>
            <a:off x="5682996" y="18288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0" name="Todas las Organizaciones" descr="Todas las Organizacion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36" y="20345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08576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Organizaciones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08576" y="347472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Empresas, fundaciones, instituciones educativas y pymes deberán adaptar sus procesos internos.</a:t>
            </a:r>
            <a:endParaRPr lang="en-US" sz="1800" dirty="0"/>
          </a:p>
        </p:txBody>
      </p:sp>
      <p:sp>
        <p:nvSpPr>
          <p:cNvPr id="13" name="tarjeta Demanda Profesional Real"/>
          <p:cNvSpPr/>
          <p:nvPr/>
        </p:nvSpPr>
        <p:spPr>
          <a:xfrm>
            <a:off x="8119872" y="1554480"/>
            <a:ext cx="3520440" cy="3840480"/>
          </a:xfrm>
          <a:prstGeom prst="roundRect">
            <a:avLst>
              <a:gd name="adj" fmla="val 38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Demanda Profesional Real fondo"/>
          <p:cNvSpPr/>
          <p:nvPr/>
        </p:nvSpPr>
        <p:spPr>
          <a:xfrm>
            <a:off x="9468612" y="18288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5" name="Demanda Profesional Real" descr="Demanda Profesional Rea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4352" y="203454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94192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Profesional Real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94192" y="347472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necesitan profesionales que traduzcan exigencias legales en soluciones técnicas y metodológicas.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afecta a cualquier persona que haya entregado sus datos a una organización, sin importar su condición socioeconómica.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Propuesta: Un Framework en Cinco Componentes</a:t>
            </a:r>
            <a:endParaRPr lang="en-US" sz="3200" dirty="0"/>
          </a:p>
        </p:txBody>
      </p:sp>
      <p:sp>
        <p:nvSpPr>
          <p:cNvPr id="3" name="paso 1"/>
          <p:cNvSpPr/>
          <p:nvPr/>
        </p:nvSpPr>
        <p:spPr>
          <a:xfrm>
            <a:off x="502920" y="1554480"/>
            <a:ext cx="2011680" cy="329184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Requisitos Normativos fondo"/>
          <p:cNvSpPr/>
          <p:nvPr/>
        </p:nvSpPr>
        <p:spPr>
          <a:xfrm>
            <a:off x="1097280" y="17830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5" name="Requisitos Normativos" descr="Requisitos Normativ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19888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7889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Normativos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6118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Sistematizar la ley en requisitos operativos</a:t>
            </a:r>
            <a:endParaRPr lang="en-US" sz="1400" dirty="0"/>
          </a:p>
        </p:txBody>
      </p:sp>
      <p:sp>
        <p:nvSpPr>
          <p:cNvPr id="9" name="flecha 1"/>
          <p:cNvSpPr/>
          <p:nvPr/>
        </p:nvSpPr>
        <p:spPr>
          <a:xfrm>
            <a:off x="2532888" y="3017520"/>
            <a:ext cx="237744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paso 2"/>
          <p:cNvSpPr/>
          <p:nvPr/>
        </p:nvSpPr>
        <p:spPr>
          <a:xfrm>
            <a:off x="2788920" y="1554480"/>
            <a:ext cx="2011680" cy="329184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Procesos ARCOP en BPMN fondo"/>
          <p:cNvSpPr/>
          <p:nvPr/>
        </p:nvSpPr>
        <p:spPr>
          <a:xfrm>
            <a:off x="3383280" y="17830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2" name="Procesos ARCOP en BPMN" descr="Procesos ARCOP en BPM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020" y="19888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88036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926080" y="27889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ARCOP en BPMN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2926080" y="36118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la gestión de solicitudes</a:t>
            </a:r>
            <a:endParaRPr lang="en-US" sz="1400" dirty="0"/>
          </a:p>
        </p:txBody>
      </p:sp>
      <p:sp>
        <p:nvSpPr>
          <p:cNvPr id="16" name="flecha 2"/>
          <p:cNvSpPr/>
          <p:nvPr/>
        </p:nvSpPr>
        <p:spPr>
          <a:xfrm>
            <a:off x="4818888" y="3017520"/>
            <a:ext cx="237744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" name="paso 3"/>
          <p:cNvSpPr/>
          <p:nvPr/>
        </p:nvSpPr>
        <p:spPr>
          <a:xfrm>
            <a:off x="5074920" y="1554480"/>
            <a:ext cx="2011680" cy="329184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Matriz de Riesgos fondo"/>
          <p:cNvSpPr/>
          <p:nvPr/>
        </p:nvSpPr>
        <p:spPr>
          <a:xfrm>
            <a:off x="5669280" y="17830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9" name="Matriz de Riesgos" descr="Matriz de Riesgo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5020" y="198882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16636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5212080" y="27889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Riesgos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5212080" y="36118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riesgos y asociar controles</a:t>
            </a:r>
            <a:endParaRPr lang="en-US" sz="1400" dirty="0"/>
          </a:p>
        </p:txBody>
      </p:sp>
      <p:sp>
        <p:nvSpPr>
          <p:cNvPr id="23" name="flecha 3"/>
          <p:cNvSpPr/>
          <p:nvPr/>
        </p:nvSpPr>
        <p:spPr>
          <a:xfrm>
            <a:off x="7104888" y="3017520"/>
            <a:ext cx="237744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paso 4"/>
          <p:cNvSpPr/>
          <p:nvPr/>
        </p:nvSpPr>
        <p:spPr>
          <a:xfrm>
            <a:off x="7360920" y="1554480"/>
            <a:ext cx="2011680" cy="329184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Checklist de Auditoría fondo"/>
          <p:cNvSpPr/>
          <p:nvPr/>
        </p:nvSpPr>
        <p:spPr>
          <a:xfrm>
            <a:off x="7955280" y="17830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26" name="Checklist de Auditoría" descr="Checklist de Auditorí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1020" y="198882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45236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7498080" y="27889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Auditoría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7498080" y="36118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cumplimiento y brechas</a:t>
            </a:r>
            <a:endParaRPr lang="en-US" sz="1400" dirty="0"/>
          </a:p>
        </p:txBody>
      </p:sp>
      <p:sp>
        <p:nvSpPr>
          <p:cNvPr id="30" name="flecha 4"/>
          <p:cNvSpPr/>
          <p:nvPr/>
        </p:nvSpPr>
        <p:spPr>
          <a:xfrm>
            <a:off x="9390888" y="3017520"/>
            <a:ext cx="237744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1" name="paso 5"/>
          <p:cNvSpPr/>
          <p:nvPr/>
        </p:nvSpPr>
        <p:spPr>
          <a:xfrm>
            <a:off x="9646920" y="1554480"/>
            <a:ext cx="2011680" cy="329184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Validación fondo"/>
          <p:cNvSpPr/>
          <p:nvPr/>
        </p:nvSpPr>
        <p:spPr>
          <a:xfrm>
            <a:off x="10241280" y="17830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33" name="Validación" descr="Validació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7020" y="1988820"/>
            <a:ext cx="411480" cy="41148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73836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9784080" y="27889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600" dirty="0"/>
          </a:p>
        </p:txBody>
      </p:sp>
      <p:sp>
        <p:nvSpPr>
          <p:cNvPr id="36" name="Text 29"/>
          <p:cNvSpPr txBox="1"/>
          <p:nvPr/>
        </p:nvSpPr>
        <p:spPr>
          <a:xfrm>
            <a:off x="9784080" y="36118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a un caso de estudio simulado</a:t>
            </a:r>
            <a:endParaRPr lang="en-US" sz="1400" dirty="0"/>
          </a:p>
        </p:txBody>
      </p:sp>
      <p:sp>
        <p:nvSpPr>
          <p:cNvPr id="37" name="mensaje clave"/>
          <p:cNvSpPr/>
          <p:nvPr/>
        </p:nvSpPr>
        <p:spPr>
          <a:xfrm>
            <a:off x="548640" y="5166360"/>
            <a:ext cx="11091672" cy="82296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8" name="Text 31"/>
          <p:cNvSpPr txBox="1"/>
          <p:nvPr/>
        </p:nvSpPr>
        <p:spPr>
          <a:xfrm>
            <a:off x="822960" y="5166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metodológica y documental: procesos, protocolos, matrices y checklists, no una aplicación web o móvil.</a:t>
            </a:r>
            <a:endParaRPr lang="en-US" sz="18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Proyecto</a:t>
            </a:r>
            <a:endParaRPr lang="en-US" sz="3200" dirty="0"/>
          </a:p>
        </p:txBody>
      </p:sp>
      <p:sp>
        <p:nvSpPr>
          <p:cNvPr id="3" name="tarjeta objetivo general"/>
          <p:cNvSpPr/>
          <p:nvPr/>
        </p:nvSpPr>
        <p:spPr>
          <a:xfrm>
            <a:off x="548640" y="1463040"/>
            <a:ext cx="3931920" cy="4526280"/>
          </a:xfrm>
          <a:prstGeom prst="roundRect">
            <a:avLst>
              <a:gd name="adj" fmla="val 348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3383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 framework de implementación y gobernanza de datos personales que permita a las organizaciones cumplir la Ley N° 21.719, mediante protocolos, procesos y controles de ciberseguridad verificables.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4630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800" dirty="0"/>
          </a:p>
        </p:txBody>
      </p:sp>
      <p:sp>
        <p:nvSpPr>
          <p:cNvPr id="7" name="número 1"/>
          <p:cNvSpPr/>
          <p:nvPr/>
        </p:nvSpPr>
        <p:spPr>
          <a:xfrm>
            <a:off x="4846320" y="2011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 txBox="1"/>
          <p:nvPr/>
        </p:nvSpPr>
        <p:spPr>
          <a:xfrm>
            <a:off x="48463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577840" y="196596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y sistematizar los requisitos normativos de la Ley N° 21.719 y traducirlos en procesos operativos para los derechos ARCOP.</a:t>
            </a:r>
            <a:endParaRPr lang="en-US" sz="1400" dirty="0"/>
          </a:p>
        </p:txBody>
      </p:sp>
      <p:sp>
        <p:nvSpPr>
          <p:cNvPr id="10" name="número 2"/>
          <p:cNvSpPr/>
          <p:nvPr/>
        </p:nvSpPr>
        <p:spPr>
          <a:xfrm>
            <a:off x="4846320" y="281635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 txBox="1"/>
          <p:nvPr/>
        </p:nvSpPr>
        <p:spPr>
          <a:xfrm>
            <a:off x="484632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277063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en notación BPMN los flujos de gestión de solicitudes, desde su recepción hasta su resolución dentro de los plazos legales.</a:t>
            </a:r>
            <a:endParaRPr lang="en-US" sz="1400" dirty="0"/>
          </a:p>
        </p:txBody>
      </p:sp>
      <p:sp>
        <p:nvSpPr>
          <p:cNvPr id="13" name="número 3"/>
          <p:cNvSpPr/>
          <p:nvPr/>
        </p:nvSpPr>
        <p:spPr>
          <a:xfrm>
            <a:off x="4846320" y="362102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 txBox="1"/>
          <p:nvPr/>
        </p:nvSpPr>
        <p:spPr>
          <a:xfrm>
            <a:off x="4846320" y="3621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3575304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Elaborar una matriz de riesgos que priorice las vulnerabilidades del tratamiento de datos y asocie cada riesgo a un control.</a:t>
            </a:r>
            <a:endParaRPr lang="en-US" sz="1400" dirty="0"/>
          </a:p>
        </p:txBody>
      </p:sp>
      <p:sp>
        <p:nvSpPr>
          <p:cNvPr id="16" name="número 4"/>
          <p:cNvSpPr/>
          <p:nvPr/>
        </p:nvSpPr>
        <p:spPr>
          <a:xfrm>
            <a:off x="4846320" y="442569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" name="Text 15"/>
          <p:cNvSpPr txBox="1"/>
          <p:nvPr/>
        </p:nvSpPr>
        <p:spPr>
          <a:xfrm>
            <a:off x="4846320" y="4425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4379976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un checklist de auditoría de ciberseguridad que permita verificar el cumplimiento e identificar brechas y acciones correctivas.</a:t>
            </a:r>
            <a:endParaRPr lang="en-US" sz="1400" dirty="0"/>
          </a:p>
        </p:txBody>
      </p:sp>
      <p:sp>
        <p:nvSpPr>
          <p:cNvPr id="19" name="número 5"/>
          <p:cNvSpPr/>
          <p:nvPr/>
        </p:nvSpPr>
        <p:spPr>
          <a:xfrm>
            <a:off x="4846320" y="523036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Text 18"/>
          <p:cNvSpPr txBox="1"/>
          <p:nvPr/>
        </p:nvSpPr>
        <p:spPr>
          <a:xfrm>
            <a:off x="4846320" y="5230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518464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el framework aplicándolo a un caso de estudio simulado, evaluando su claridad, aplicabilidad y utilidad práctica.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 del Perfil de Egreso en Práctica</a:t>
            </a:r>
            <a:endParaRPr lang="en-US" sz="3200" dirty="0"/>
          </a:p>
        </p:txBody>
      </p:sp>
      <p:sp>
        <p:nvSpPr>
          <p:cNvPr id="3" name="tarjeta Ingeniería de Requisitos"/>
          <p:cNvSpPr/>
          <p:nvPr/>
        </p:nvSpPr>
        <p:spPr>
          <a:xfrm>
            <a:off x="548640" y="1463040"/>
            <a:ext cx="3520440" cy="3931920"/>
          </a:xfrm>
          <a:prstGeom prst="roundRect">
            <a:avLst>
              <a:gd name="adj" fmla="val 38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Ingeniería de Requisitos fondo"/>
          <p:cNvSpPr/>
          <p:nvPr/>
        </p:nvSpPr>
        <p:spPr>
          <a:xfrm>
            <a:off x="1897380" y="17373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5" name="Ingeniería de Requisitos" descr="Ingeniería de Requisit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9431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Requisitos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61188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 las exigencias de la Ley N° 21.719 y las traduce en procesos operativos: protocolos, checklists y flujos BPMN.</a:t>
            </a:r>
            <a:endParaRPr lang="en-US" sz="1700" dirty="0"/>
          </a:p>
        </p:txBody>
      </p:sp>
      <p:sp>
        <p:nvSpPr>
          <p:cNvPr id="8" name="tarjeta Gestión de Proyectos Informáticos"/>
          <p:cNvSpPr/>
          <p:nvPr/>
        </p:nvSpPr>
        <p:spPr>
          <a:xfrm>
            <a:off x="4334256" y="1463040"/>
            <a:ext cx="3520440" cy="3931920"/>
          </a:xfrm>
          <a:prstGeom prst="roundRect">
            <a:avLst>
              <a:gd name="adj" fmla="val 38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Gestión de Proyectos Informáticos fondo"/>
          <p:cNvSpPr/>
          <p:nvPr/>
        </p:nvSpPr>
        <p:spPr>
          <a:xfrm>
            <a:off x="5682996" y="17373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0" name="Gestión de Proyectos Informáticos" descr="Gestión de Proyectos Informático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36" y="19431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08576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Proyectos Informáticos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08576" y="361188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la implementación con metodologías ágiles (Scrum), planificando, ejecutando y controlando el proyecto de principio a fin.</a:t>
            </a:r>
            <a:endParaRPr lang="en-US" sz="1700" dirty="0"/>
          </a:p>
        </p:txBody>
      </p:sp>
      <p:sp>
        <p:nvSpPr>
          <p:cNvPr id="13" name="tarjeta Ciberseguridad y Diseño de Soluciones"/>
          <p:cNvSpPr/>
          <p:nvPr/>
        </p:nvSpPr>
        <p:spPr>
          <a:xfrm>
            <a:off x="8119872" y="1463040"/>
            <a:ext cx="3520440" cy="3931920"/>
          </a:xfrm>
          <a:prstGeom prst="roundRect">
            <a:avLst>
              <a:gd name="adj" fmla="val 38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Ciberseguridad y Diseño de Soluciones fondo"/>
          <p:cNvSpPr/>
          <p:nvPr/>
        </p:nvSpPr>
        <p:spPr>
          <a:xfrm>
            <a:off x="9468612" y="17373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5" name="Ciberseguridad y Diseño de Soluciones" descr="Ciberseguridad y Diseño de Solucion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4352" y="19431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94192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Ciberseguridad y Diseño de Soluciones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94192" y="361188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 controles técnicos y administrativos, matrices de riesgo y protocolos de auditoría alineados con estándares y normativa.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de desempeño: Diseño y Gestión de Requisitos · Gestión de Proyectos Informáticos · Seguridad en Sistemas Computacionales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Metodología: Scrum Adaptado a Trabajo Individual</a:t>
            </a:r>
            <a:endParaRPr lang="en-US" sz="3200" dirty="0"/>
          </a:p>
        </p:txBody>
      </p:sp>
      <p:sp>
        <p:nvSpPr>
          <p:cNvPr id="3" name="panel gestión"/>
          <p:cNvSpPr/>
          <p:nvPr/>
        </p:nvSpPr>
        <p:spPr>
          <a:xfrm>
            <a:off x="548640" y="1463040"/>
            <a:ext cx="4023360" cy="4526280"/>
          </a:xfrm>
          <a:prstGeom prst="roundRect">
            <a:avLst>
              <a:gd name="adj" fmla="val 34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Ciclo de sprints fondo"/>
          <p:cNvSpPr/>
          <p:nvPr/>
        </p:nvSpPr>
        <p:spPr>
          <a:xfrm>
            <a:off x="2103120" y="16916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5" name="Ciclo de sprints" descr="Ciclo de sprin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860" y="18973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Proyecto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9184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quincenales, cada uno ligado a un objetivo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 verificable al cierre de cada sprint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Kanban (Trello o Jira) para controlar plazos</a:t>
            </a:r>
            <a:endParaRPr lang="en-US" sz="1600" dirty="0"/>
          </a:p>
        </p:txBody>
      </p:sp>
      <p:sp>
        <p:nvSpPr>
          <p:cNvPr id="8" name="etiqueta Obj. 1"/>
          <p:cNvSpPr/>
          <p:nvPr/>
        </p:nvSpPr>
        <p:spPr>
          <a:xfrm>
            <a:off x="4937760" y="1554480"/>
            <a:ext cx="9144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6"/>
          <p:cNvSpPr txBox="1"/>
          <p:nvPr/>
        </p:nvSpPr>
        <p:spPr>
          <a:xfrm>
            <a:off x="4937760" y="1554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Obj. 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14630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documental de la ley y su reglamento, ISO/IEC 27001 y guías de la Agencia de Protección de Datos.</a:t>
            </a:r>
            <a:endParaRPr lang="en-US" sz="1400" dirty="0"/>
          </a:p>
        </p:txBody>
      </p:sp>
      <p:sp>
        <p:nvSpPr>
          <p:cNvPr id="11" name="etiqueta Obj. 2"/>
          <p:cNvSpPr/>
          <p:nvPr/>
        </p:nvSpPr>
        <p:spPr>
          <a:xfrm>
            <a:off x="4937760" y="2468880"/>
            <a:ext cx="9144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9"/>
          <p:cNvSpPr txBox="1"/>
          <p:nvPr/>
        </p:nvSpPr>
        <p:spPr>
          <a:xfrm>
            <a:off x="4937760" y="2468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Obj. 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23774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 BPMN 2.0, validando cada proceso contra los plazos legales.</a:t>
            </a:r>
            <a:endParaRPr lang="en-US" sz="1400" dirty="0"/>
          </a:p>
        </p:txBody>
      </p:sp>
      <p:sp>
        <p:nvSpPr>
          <p:cNvPr id="14" name="etiqueta Obj. 3"/>
          <p:cNvSpPr/>
          <p:nvPr/>
        </p:nvSpPr>
        <p:spPr>
          <a:xfrm>
            <a:off x="4937760" y="3383280"/>
            <a:ext cx="9144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2"/>
          <p:cNvSpPr txBox="1"/>
          <p:nvPr/>
        </p:nvSpPr>
        <p:spPr>
          <a:xfrm>
            <a:off x="4937760" y="3383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Obj. 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3291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riesgos con ISO 31000 o NIST: amenazas, probabilidad, impacto y control.</a:t>
            </a:r>
            <a:endParaRPr lang="en-US" sz="1400" dirty="0"/>
          </a:p>
        </p:txBody>
      </p:sp>
      <p:sp>
        <p:nvSpPr>
          <p:cNvPr id="17" name="etiqueta Obj. 4"/>
          <p:cNvSpPr/>
          <p:nvPr/>
        </p:nvSpPr>
        <p:spPr>
          <a:xfrm>
            <a:off x="4937760" y="4297680"/>
            <a:ext cx="9144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Text 15"/>
          <p:cNvSpPr txBox="1"/>
          <p:nvPr/>
        </p:nvSpPr>
        <p:spPr>
          <a:xfrm>
            <a:off x="4937760" y="4297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Obj. 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126480" y="42062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en formato cumple / no cumple / observaciones.</a:t>
            </a:r>
            <a:endParaRPr lang="en-US" sz="1400" dirty="0"/>
          </a:p>
        </p:txBody>
      </p:sp>
      <p:sp>
        <p:nvSpPr>
          <p:cNvPr id="20" name="etiqueta Obj. 5"/>
          <p:cNvSpPr/>
          <p:nvPr/>
        </p:nvSpPr>
        <p:spPr>
          <a:xfrm>
            <a:off x="4937760" y="5212080"/>
            <a:ext cx="9144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8"/>
          <p:cNvSpPr txBox="1"/>
          <p:nvPr/>
        </p:nvSpPr>
        <p:spPr>
          <a:xfrm>
            <a:off x="4937760" y="5212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Obj. 5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126480" y="5120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estudio simulado con retroalimentación propia o del docente referente.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 por Sprints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114800" y="1371600"/>
            <a:ext cx="22650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400" dirty="0"/>
          </a:p>
        </p:txBody>
      </p:sp>
      <p:sp>
        <p:nvSpPr>
          <p:cNvPr id="4" name="guía Sep"/>
          <p:cNvSpPr/>
          <p:nvPr/>
        </p:nvSpPr>
        <p:spPr>
          <a:xfrm>
            <a:off x="4114800" y="1737360"/>
            <a:ext cx="0" cy="434340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 txBox="1"/>
          <p:nvPr/>
        </p:nvSpPr>
        <p:spPr>
          <a:xfrm>
            <a:off x="6379845" y="1371600"/>
            <a:ext cx="2421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400" dirty="0"/>
          </a:p>
        </p:txBody>
      </p:sp>
      <p:sp>
        <p:nvSpPr>
          <p:cNvPr id="6" name="guía Oct"/>
          <p:cNvSpPr/>
          <p:nvPr/>
        </p:nvSpPr>
        <p:spPr>
          <a:xfrm>
            <a:off x="6379845" y="1737360"/>
            <a:ext cx="0" cy="434340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Text 5"/>
          <p:cNvSpPr txBox="1"/>
          <p:nvPr/>
        </p:nvSpPr>
        <p:spPr>
          <a:xfrm>
            <a:off x="8801100" y="1371600"/>
            <a:ext cx="23431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400" dirty="0"/>
          </a:p>
        </p:txBody>
      </p:sp>
      <p:sp>
        <p:nvSpPr>
          <p:cNvPr id="8" name="guía Nov"/>
          <p:cNvSpPr/>
          <p:nvPr/>
        </p:nvSpPr>
        <p:spPr>
          <a:xfrm>
            <a:off x="8801100" y="1737360"/>
            <a:ext cx="0" cy="434340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7"/>
          <p:cNvSpPr txBox="1"/>
          <p:nvPr/>
        </p:nvSpPr>
        <p:spPr>
          <a:xfrm>
            <a:off x="11144250" y="1371600"/>
            <a:ext cx="4686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</a:t>
            </a:r>
            <a:endParaRPr lang="en-US" sz="1400" dirty="0"/>
          </a:p>
        </p:txBody>
      </p:sp>
      <p:sp>
        <p:nvSpPr>
          <p:cNvPr id="10" name="guía Dic"/>
          <p:cNvSpPr/>
          <p:nvPr/>
        </p:nvSpPr>
        <p:spPr>
          <a:xfrm>
            <a:off x="11144250" y="1737360"/>
            <a:ext cx="0" cy="434340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 txBox="1"/>
          <p:nvPr/>
        </p:nvSpPr>
        <p:spPr>
          <a:xfrm>
            <a:off x="54864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 · Fundamentos</a:t>
            </a:r>
            <a:endParaRPr lang="en-US" sz="1400" dirty="0"/>
          </a:p>
        </p:txBody>
      </p:sp>
      <p:sp>
        <p:nvSpPr>
          <p:cNvPr id="12" name="barra Sprint 0 · Fundamentos"/>
          <p:cNvSpPr/>
          <p:nvPr/>
        </p:nvSpPr>
        <p:spPr>
          <a:xfrm>
            <a:off x="4114800" y="1856232"/>
            <a:ext cx="546735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 txBox="1"/>
          <p:nvPr/>
        </p:nvSpPr>
        <p:spPr>
          <a:xfrm>
            <a:off x="4752975" y="1828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2–8 sep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3042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· Requisitos Normativos</a:t>
            </a:r>
            <a:endParaRPr lang="en-US" sz="1400" dirty="0"/>
          </a:p>
        </p:txBody>
      </p:sp>
      <p:sp>
        <p:nvSpPr>
          <p:cNvPr id="15" name="barra Sprint 1 · Requisitos Normativos"/>
          <p:cNvSpPr/>
          <p:nvPr/>
        </p:nvSpPr>
        <p:spPr>
          <a:xfrm>
            <a:off x="4661535" y="2331720"/>
            <a:ext cx="109347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 txBox="1"/>
          <p:nvPr/>
        </p:nvSpPr>
        <p:spPr>
          <a:xfrm>
            <a:off x="5846445" y="23042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9–22 sep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7797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· Modelamiento BPMN</a:t>
            </a:r>
            <a:endParaRPr lang="en-US" sz="1400" dirty="0"/>
          </a:p>
        </p:txBody>
      </p:sp>
      <p:sp>
        <p:nvSpPr>
          <p:cNvPr id="18" name="barra Sprint 2 · Modelamiento BPMN"/>
          <p:cNvSpPr/>
          <p:nvPr/>
        </p:nvSpPr>
        <p:spPr>
          <a:xfrm>
            <a:off x="5755005" y="2807208"/>
            <a:ext cx="109347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 txBox="1"/>
          <p:nvPr/>
        </p:nvSpPr>
        <p:spPr>
          <a:xfrm>
            <a:off x="6939915" y="27797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sep–6 oct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2552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· Matriz de Riesgos</a:t>
            </a:r>
            <a:endParaRPr lang="en-US" sz="1400" dirty="0"/>
          </a:p>
        </p:txBody>
      </p:sp>
      <p:sp>
        <p:nvSpPr>
          <p:cNvPr id="21" name="barra Sprint 3 · Matriz de Riesgos"/>
          <p:cNvSpPr/>
          <p:nvPr/>
        </p:nvSpPr>
        <p:spPr>
          <a:xfrm>
            <a:off x="6848475" y="3282696"/>
            <a:ext cx="109347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Text 20"/>
          <p:cNvSpPr txBox="1"/>
          <p:nvPr/>
        </p:nvSpPr>
        <p:spPr>
          <a:xfrm>
            <a:off x="8033385" y="325526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7–20 oct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730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· Checklist de Auditoría</a:t>
            </a:r>
            <a:endParaRPr lang="en-US" sz="1400" dirty="0"/>
          </a:p>
        </p:txBody>
      </p:sp>
      <p:sp>
        <p:nvSpPr>
          <p:cNvPr id="24" name="barra Sprint 4 · Checklist de Auditoría"/>
          <p:cNvSpPr/>
          <p:nvPr/>
        </p:nvSpPr>
        <p:spPr>
          <a:xfrm>
            <a:off x="7941945" y="3758184"/>
            <a:ext cx="109347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 txBox="1"/>
          <p:nvPr/>
        </p:nvSpPr>
        <p:spPr>
          <a:xfrm>
            <a:off x="9126855" y="37307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oct–3 nov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206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· Caso Simulado</a:t>
            </a:r>
            <a:endParaRPr lang="en-US" sz="1400" dirty="0"/>
          </a:p>
        </p:txBody>
      </p:sp>
      <p:sp>
        <p:nvSpPr>
          <p:cNvPr id="27" name="barra Sprint 5 · Caso Simulado"/>
          <p:cNvSpPr/>
          <p:nvPr/>
        </p:nvSpPr>
        <p:spPr>
          <a:xfrm>
            <a:off x="9035415" y="4233672"/>
            <a:ext cx="546735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Text 26"/>
          <p:cNvSpPr txBox="1"/>
          <p:nvPr/>
        </p:nvSpPr>
        <p:spPr>
          <a:xfrm>
            <a:off x="9673590" y="4206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4–10 nov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6817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 · Consolidación</a:t>
            </a:r>
            <a:endParaRPr lang="en-US" sz="1400" dirty="0"/>
          </a:p>
        </p:txBody>
      </p:sp>
      <p:sp>
        <p:nvSpPr>
          <p:cNvPr id="30" name="barra Sprint 6 · Consolidación"/>
          <p:cNvSpPr/>
          <p:nvPr/>
        </p:nvSpPr>
        <p:spPr>
          <a:xfrm>
            <a:off x="9582150" y="4709160"/>
            <a:ext cx="546735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1" name="Text 29"/>
          <p:cNvSpPr txBox="1"/>
          <p:nvPr/>
        </p:nvSpPr>
        <p:spPr>
          <a:xfrm>
            <a:off x="10220325" y="468172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11–17 nov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1572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· Revisión y Ajustes</a:t>
            </a:r>
            <a:endParaRPr lang="en-US" sz="1400" dirty="0"/>
          </a:p>
        </p:txBody>
      </p:sp>
      <p:sp>
        <p:nvSpPr>
          <p:cNvPr id="33" name="barra Buffer · Revisión y Ajustes"/>
          <p:cNvSpPr/>
          <p:nvPr/>
        </p:nvSpPr>
        <p:spPr>
          <a:xfrm>
            <a:off x="10128885" y="5184648"/>
            <a:ext cx="468630" cy="310896"/>
          </a:xfrm>
          <a:prstGeom prst="roundRect">
            <a:avLst>
              <a:gd name="adj" fmla="val 235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4" name="Text 32"/>
          <p:cNvSpPr txBox="1"/>
          <p:nvPr/>
        </p:nvSpPr>
        <p:spPr>
          <a:xfrm>
            <a:off x="8757285" y="515721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18–23 nov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6327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Diciembre · Defensa</a:t>
            </a:r>
            <a:endParaRPr lang="en-US" sz="1400" dirty="0"/>
          </a:p>
        </p:txBody>
      </p:sp>
      <p:sp>
        <p:nvSpPr>
          <p:cNvPr id="36" name="barra Diciembre · Defensa"/>
          <p:cNvSpPr/>
          <p:nvPr/>
        </p:nvSpPr>
        <p:spPr>
          <a:xfrm>
            <a:off x="11144250" y="5660136"/>
            <a:ext cx="46863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Text 35"/>
          <p:cNvSpPr txBox="1"/>
          <p:nvPr/>
        </p:nvSpPr>
        <p:spPr>
          <a:xfrm>
            <a:off x="9772650" y="56327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Diciembre</a:t>
            </a:r>
            <a:endParaRPr lang="en-US" sz="12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Propuestas y Factibilidad</a:t>
            </a:r>
            <a:endParaRPr lang="en-US" sz="3200" dirty="0"/>
          </a:p>
        </p:txBody>
      </p:sp>
      <p:sp>
        <p:nvSpPr>
          <p:cNvPr id="3" name="panel evidencias"/>
          <p:cNvSpPr/>
          <p:nvPr/>
        </p:nvSpPr>
        <p:spPr>
          <a:xfrm>
            <a:off x="548640" y="1463040"/>
            <a:ext cx="5120640" cy="45720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Propuestas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Gestión: capturas del tablero Kanban, bitácora quincenal y registros de reuniones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Requisitos: documento de sistematización de la ley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Procesos: diagramas BPMN 2.0 (imagen y editable)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y auditoría: matriz de riesgos y checklist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Cierre: caso de estudio, informe final y presentación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4630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 Factible</a:t>
            </a:r>
            <a:endParaRPr lang="en-US" sz="2000" dirty="0"/>
          </a:p>
        </p:txBody>
      </p:sp>
      <p:sp>
        <p:nvSpPr>
          <p:cNvPr id="7" name="factor 1 fondo"/>
          <p:cNvSpPr/>
          <p:nvPr/>
        </p:nvSpPr>
        <p:spPr>
          <a:xfrm>
            <a:off x="6035040" y="2011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8" name="factor 1" descr="facto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488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12280" y="20116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acotado: framework metodológico, sin desarrollo de software complejo.</a:t>
            </a:r>
            <a:endParaRPr lang="en-US" sz="1400" dirty="0"/>
          </a:p>
        </p:txBody>
      </p:sp>
      <p:sp>
        <p:nvSpPr>
          <p:cNvPr id="10" name="factor 2 fondo"/>
          <p:cNvSpPr/>
          <p:nvPr/>
        </p:nvSpPr>
        <p:spPr>
          <a:xfrm>
            <a:off x="6035040" y="2788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1" name="factor 2" descr="factor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9260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12280" y="278892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normativa pública y vigente, sin fuentes inciertas.</a:t>
            </a:r>
            <a:endParaRPr lang="en-US" sz="1400" dirty="0"/>
          </a:p>
        </p:txBody>
      </p:sp>
      <p:sp>
        <p:nvSpPr>
          <p:cNvPr id="13" name="factor 3 fondo"/>
          <p:cNvSpPr/>
          <p:nvPr/>
        </p:nvSpPr>
        <p:spPr>
          <a:xfrm>
            <a:off x="6035040" y="3566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4" name="factor 3" descr="factor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7033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812280" y="356616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apoya en mis fortalezas: requisitos, proyectos y riesgos.</a:t>
            </a:r>
            <a:endParaRPr lang="en-US" sz="1400" dirty="0"/>
          </a:p>
        </p:txBody>
      </p:sp>
      <p:sp>
        <p:nvSpPr>
          <p:cNvPr id="16" name="factor 4 fondo"/>
          <p:cNvSpPr/>
          <p:nvPr/>
        </p:nvSpPr>
        <p:spPr>
          <a:xfrm>
            <a:off x="6035040" y="4343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7" name="factor 4" descr="factor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448056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12280" y="43434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con un caso simulado, sin datos personales reales.</a:t>
            </a:r>
            <a:endParaRPr lang="en-US" sz="1400" dirty="0"/>
          </a:p>
        </p:txBody>
      </p:sp>
      <p:sp>
        <p:nvSpPr>
          <p:cNvPr id="19" name="riesgo y mitigación"/>
          <p:cNvSpPr/>
          <p:nvPr/>
        </p:nvSpPr>
        <p:spPr>
          <a:xfrm>
            <a:off x="6035040" y="5166360"/>
            <a:ext cx="5605272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Text 14"/>
          <p:cNvSpPr txBox="1"/>
          <p:nvPr/>
        </p:nvSpPr>
        <p:spPr>
          <a:xfrm>
            <a:off x="6263640" y="5166360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sobrecarga por trabajo individual. </a:t>
            </a:r>
            <a:r>
              <a:rPr lang="en-US" sz="14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con un buffer de revisión al final.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3600" dirty="0"/>
          </a:p>
        </p:txBody>
      </p:sp>
      <p:sp>
        <p:nvSpPr>
          <p:cNvPr id="3" name="Confirmar al docente referente fondo"/>
          <p:cNvSpPr/>
          <p:nvPr/>
        </p:nvSpPr>
        <p:spPr>
          <a:xfrm>
            <a:off x="731520" y="173736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4" name="Confirmar al docente referente" descr="Confirmar al docente referen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1954530"/>
            <a:ext cx="434340" cy="4343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920240" y="17373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al docente referente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920240" y="22402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 el alcance del proyecto y la retroalimentación.</a:t>
            </a:r>
            <a:endParaRPr lang="en-US" sz="1800" dirty="0"/>
          </a:p>
        </p:txBody>
      </p:sp>
      <p:sp>
        <p:nvSpPr>
          <p:cNvPr id="7" name="Crear el tablero Kanban fondo"/>
          <p:cNvSpPr/>
          <p:nvPr/>
        </p:nvSpPr>
        <p:spPr>
          <a:xfrm>
            <a:off x="731520" y="310896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8" name="Crear el tablero Kanban" descr="Crear el tablero Kanba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3326130"/>
            <a:ext cx="434340" cy="4343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920240" y="31089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tablero Kanban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192024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 o Jira con las columnas del plan de trabajo.</a:t>
            </a:r>
            <a:endParaRPr lang="en-US" sz="1800" dirty="0"/>
          </a:p>
        </p:txBody>
      </p:sp>
      <p:sp>
        <p:nvSpPr>
          <p:cNvPr id="11" name="Iniciar el Sprint 1 fondo"/>
          <p:cNvSpPr/>
          <p:nvPr/>
        </p:nvSpPr>
        <p:spPr>
          <a:xfrm>
            <a:off x="731520" y="448056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2" name="Iniciar el Sprint 1" descr="Iniciar el Sprint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690" y="469773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920240" y="44805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el Sprint 1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1920240" y="4983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Sistematizar la Ley N° 21.719 en requisitos operativos.</a:t>
            </a:r>
            <a:endParaRPr lang="en-US" sz="18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A0119E00-8C22-AA28-122A-5A8508B7D893}"/>
              </a:ext>
            </a:extLst>
          </p:cNvPr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</a:t>
            </a:r>
            <a:r>
              <a:rPr lang="en-US" sz="1200" i="1" dirty="0" err="1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</a:t>
            </a:r>
            <a:r>
              <a:rPr lang="en-US" sz="12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Fase 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nsparenta Fase 1">
  <a:themeElements>
    <a:clrScheme name="Transparenta Fase 1">
      <a:dk1>
        <a:srgbClr val="1B2A49"/>
      </a:dk1>
      <a:lt1>
        <a:srgbClr val="FFFFFF"/>
      </a:lt1>
      <a:dk2>
        <a:srgbClr val="1F3864"/>
      </a:dk2>
      <a:lt2>
        <a:srgbClr val="EAF1FB"/>
      </a:lt2>
      <a:accent1>
        <a:srgbClr val="2F6DB5"/>
      </a:accent1>
      <a:accent2>
        <a:srgbClr val="F2A33A"/>
      </a:accent2>
      <a:accent3>
        <a:srgbClr val="6FA8DC"/>
      </a:accent3>
      <a:accent4>
        <a:srgbClr val="3C8D7A"/>
      </a:accent4>
      <a:accent5>
        <a:srgbClr val="8A94A6"/>
      </a:accent5>
      <a:accent6>
        <a:srgbClr val="C9D9F0"/>
      </a:accent6>
      <a:hlink>
        <a:srgbClr val="2F6DB5"/>
      </a:hlink>
      <a:folHlink>
        <a:srgbClr val="8A94A6"/>
      </a:folHlink>
    </a:clrScheme>
    <a:fontScheme name="Transparenta Fase 1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1187</Words>
  <Application>Microsoft Office PowerPoint</Application>
  <PresentationFormat>Panorámica</PresentationFormat>
  <Paragraphs>159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Transparenta Fase 1</vt:lpstr>
      <vt:lpstr>Presentación de PowerPoint</vt:lpstr>
      <vt:lpstr>El Problema: Derechos Sin Procesos que los Respalden</vt:lpstr>
      <vt:lpstr>Una Nueva Ley que Obliga a Todas las Organizaciones</vt:lpstr>
      <vt:lpstr>La Propuesta: Un Framework en Cinco Componentes</vt:lpstr>
      <vt:lpstr>Objetivos del Proyecto</vt:lpstr>
      <vt:lpstr>Competencias del Perfil de Egreso en Práctica</vt:lpstr>
      <vt:lpstr>Metodología: Scrum Adaptado a Trabajo Individual</vt:lpstr>
      <vt:lpstr>Plan de Trabajo por Sprints</vt:lpstr>
      <vt:lpstr>Evidencias Propuestas y Factibilidad</vt:lpstr>
      <vt:lpstr>Próximos Pasos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Proyecto - Fase 1</dc:title>
  <dc:subject>PptxGenJS Presentation</dc:subject>
  <dc:creator>Josefa Vallejos Sánchez</dc:creator>
  <cp:lastModifiedBy>JOSEFA ANDREA VALLEJOS SANCHEZ</cp:lastModifiedBy>
  <cp:revision>2</cp:revision>
  <dcterms:created xsi:type="dcterms:W3CDTF">2026-10-24T05:30:13Z</dcterms:created>
  <dcterms:modified xsi:type="dcterms:W3CDTF">2026-10-24T05:36:48Z</dcterms:modified>
</cp:coreProperties>
</file>
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24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Transparenta es un software que ayuda a una organización a registrar cómo trata datos personales, detectar brechas respecto de la Ley N° 21.719 y recibir avisos de plazos de conservación, con confirmación humana en cada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de vigencia: 1 de diciembre de 2026, salvo que se apruebe el proyecto de postergación en tramitación. Confirmar antes de exponer.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proceso general de registro y revisión. El diagrama está en la evidencia de documentación.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artículos se contrastarán con el texto consolidado de la Biblioteca del Congreso Nacional antes de la entrega final. Las reglas son un apoyo y no reemplazan el análisis jurídico.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categorías definidas en el modelo de datos (restricción CHECK de la tabla TRATAMIENTO). Ejemplos con datos ficticios.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esquema completo está en schema.sql.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ficticios de Nexa Soluciones TI. Es el diseño de la interfaz que se construirá.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bitácora registra fecha, usuario, acción y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el uso de IA generativa como apoyo, como en la metodología del informe. Confirmar con el docente el uso de Flask si cambia la tecnología.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ACTUALIZAR estos estados antes de exponer, según el avance real del prototipo.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se construye de forma incremental, con cuatro funciones, versionado en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A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pic>
        <p:nvPicPr>
          <p:cNvPr id="3" name="Image 0" descr="du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1371600" cy="30438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Josefa Vallejos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uoc U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548640"/>
            <a:ext cx="1925417" cy="427284"/>
          </a:xfrm>
          <a:prstGeom prst="rect">
            <a:avLst/>
          </a:prstGeom>
        </p:spPr>
      </p:pic>
      <p:pic>
        <p:nvPicPr>
          <p:cNvPr id="3" name="Image 1" descr="Logo Transparen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37360"/>
            <a:ext cx="6766560" cy="153762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35661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</a:t>
            </a:r>
            <a:r>
              <a:rPr lang="en-US" sz="2000" i="1" dirty="0" err="1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</a:t>
            </a:r>
            <a:r>
              <a:rPr lang="en-US" sz="20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</a:t>
            </a:r>
            <a:r>
              <a:rPr lang="en-US" sz="2000" i="1" dirty="0" err="1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Tratamientos</a:t>
            </a:r>
            <a:r>
              <a:rPr lang="en-US" sz="20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Datos Personales con Detección de Brechas · Ley N° 21.719</a:t>
            </a:r>
            <a:endParaRPr lang="en-US" sz="2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4846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Josefa Vallejos Sánchez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Ingeniería en Informática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Yerko Paredes Orellana</a:t>
            </a:r>
            <a:endParaRPr lang="en-US" sz="1600" dirty="0"/>
          </a:p>
        </p:txBody>
      </p:sp>
      <p:sp>
        <p:nvSpPr>
          <p:cNvPr id="6" name="órbita"/>
          <p:cNvSpPr/>
          <p:nvPr/>
        </p:nvSpPr>
        <p:spPr>
          <a:xfrm>
            <a:off x="7863840" y="1554480"/>
            <a:ext cx="3657600" cy="36576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A9D6EA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  <p:sp>
        <p:nvSpPr>
          <p:cNvPr id="7" name="centro"/>
          <p:cNvSpPr/>
          <p:nvPr/>
        </p:nvSpPr>
        <p:spPr>
          <a:xfrm>
            <a:off x="8915400" y="2606040"/>
            <a:ext cx="1554480" cy="1554480"/>
          </a:xfrm>
          <a:prstGeom prst="ellipse">
            <a:avLst/>
          </a:prstGeom>
          <a:solidFill>
            <a:srgbClr val="FFE69A"/>
          </a:solidFill>
          <a:ln w="12700">
            <a:solidFill>
              <a:srgbClr val="FFE69A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8" name="Image 2" descr="Lup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971800"/>
            <a:ext cx="822960" cy="822960"/>
          </a:xfrm>
          <a:prstGeom prst="rect">
            <a:avLst/>
          </a:prstGeom>
        </p:spPr>
      </p:pic>
      <p:sp>
        <p:nvSpPr>
          <p:cNvPr id="9" name="satélite FaFileAlt fondo"/>
          <p:cNvSpPr/>
          <p:nvPr/>
        </p:nvSpPr>
        <p:spPr>
          <a:xfrm>
            <a:off x="9326880" y="1188720"/>
            <a:ext cx="731520" cy="731520"/>
          </a:xfrm>
          <a:prstGeom prst="ellipse">
            <a:avLst/>
          </a:prstGeom>
          <a:solidFill>
            <a:srgbClr val="BFE3F2"/>
          </a:solidFill>
          <a:ln w="12700">
            <a:solidFill>
              <a:srgbClr val="BFE3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0" name="satélite FaFileAlt" descr="satélite FaFileA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1371600"/>
            <a:ext cx="365760" cy="365760"/>
          </a:xfrm>
          <a:prstGeom prst="rect">
            <a:avLst/>
          </a:prstGeom>
        </p:spPr>
      </p:pic>
      <p:sp>
        <p:nvSpPr>
          <p:cNvPr id="11" name="satélite FaLock fondo"/>
          <p:cNvSpPr/>
          <p:nvPr/>
        </p:nvSpPr>
        <p:spPr>
          <a:xfrm>
            <a:off x="11066172" y="2452390"/>
            <a:ext cx="731520" cy="731520"/>
          </a:xfrm>
          <a:prstGeom prst="ellipse">
            <a:avLst/>
          </a:prstGeom>
          <a:solidFill>
            <a:srgbClr val="BFE3F2"/>
          </a:solidFill>
          <a:ln w="12700">
            <a:solidFill>
              <a:srgbClr val="BFE3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satélite FaLock" descr="satélite 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9052" y="2635270"/>
            <a:ext cx="365760" cy="365760"/>
          </a:xfrm>
          <a:prstGeom prst="rect">
            <a:avLst/>
          </a:prstGeom>
        </p:spPr>
      </p:pic>
      <p:sp>
        <p:nvSpPr>
          <p:cNvPr id="13" name="satélite FaDatabase fondo"/>
          <p:cNvSpPr/>
          <p:nvPr/>
        </p:nvSpPr>
        <p:spPr>
          <a:xfrm>
            <a:off x="10401822" y="4497050"/>
            <a:ext cx="731520" cy="731520"/>
          </a:xfrm>
          <a:prstGeom prst="ellipse">
            <a:avLst/>
          </a:prstGeom>
          <a:solidFill>
            <a:srgbClr val="BFE3F2"/>
          </a:solidFill>
          <a:ln w="12700">
            <a:solidFill>
              <a:srgbClr val="BFE3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4" name="satélite FaDatabase" descr="satélite FaDataba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4702" y="4679930"/>
            <a:ext cx="365760" cy="365760"/>
          </a:xfrm>
          <a:prstGeom prst="rect">
            <a:avLst/>
          </a:prstGeom>
        </p:spPr>
      </p:pic>
      <p:sp>
        <p:nvSpPr>
          <p:cNvPr id="15" name="satélite FaUserCheck fondo"/>
          <p:cNvSpPr/>
          <p:nvPr/>
        </p:nvSpPr>
        <p:spPr>
          <a:xfrm>
            <a:off x="8251938" y="4497050"/>
            <a:ext cx="731520" cy="731520"/>
          </a:xfrm>
          <a:prstGeom prst="ellipse">
            <a:avLst/>
          </a:prstGeom>
          <a:solidFill>
            <a:srgbClr val="BFE3F2"/>
          </a:solidFill>
          <a:ln w="12700">
            <a:solidFill>
              <a:srgbClr val="BFE3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6" name="satélite FaUserCheck" descr="satélite FaUserChec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4818" y="4679930"/>
            <a:ext cx="365760" cy="365760"/>
          </a:xfrm>
          <a:prstGeom prst="rect">
            <a:avLst/>
          </a:prstGeom>
        </p:spPr>
      </p:pic>
      <p:sp>
        <p:nvSpPr>
          <p:cNvPr id="17" name="satélite FaCalendarCheck fondo"/>
          <p:cNvSpPr/>
          <p:nvPr/>
        </p:nvSpPr>
        <p:spPr>
          <a:xfrm>
            <a:off x="7587588" y="2452390"/>
            <a:ext cx="731520" cy="731520"/>
          </a:xfrm>
          <a:prstGeom prst="ellipse">
            <a:avLst/>
          </a:prstGeom>
          <a:solidFill>
            <a:srgbClr val="BFE3F2"/>
          </a:solidFill>
          <a:ln w="12700">
            <a:solidFill>
              <a:srgbClr val="BFE3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8" name="satélite FaCalendarCheck" descr="satélite FaCalendar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0468" y="263527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 y Propuesta</a:t>
            </a:r>
            <a:endParaRPr lang="en-US" sz="3200" dirty="0"/>
          </a:p>
        </p:txBody>
      </p:sp>
      <p:sp>
        <p:nvSpPr>
          <p:cNvPr id="3" name="tarjeta Problemática"/>
          <p:cNvSpPr/>
          <p:nvPr/>
        </p:nvSpPr>
        <p:spPr>
          <a:xfrm>
            <a:off x="548640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" name="Problemática fondo"/>
          <p:cNvSpPr/>
          <p:nvPr/>
        </p:nvSpPr>
        <p:spPr>
          <a:xfrm>
            <a:off x="1897380" y="164592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Problemática" descr="Problemátic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8516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51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Personales se registran en planillas dispersas, sin responsables, Plazos de Conservación ni Trazabilidad.</a:t>
            </a:r>
            <a:endParaRPr lang="en-US" sz="1600" dirty="0"/>
          </a:p>
        </p:txBody>
      </p:sp>
      <p:sp>
        <p:nvSpPr>
          <p:cNvPr id="8" name="tarjeta Propuesta"/>
          <p:cNvSpPr/>
          <p:nvPr/>
        </p:nvSpPr>
        <p:spPr>
          <a:xfrm>
            <a:off x="4334256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Propuesta fondo"/>
          <p:cNvSpPr/>
          <p:nvPr/>
        </p:nvSpPr>
        <p:spPr>
          <a:xfrm>
            <a:off x="5682996" y="164592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0" name="Propuesta" descr="Propues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8516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34256" y="2651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32004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propio que ordena el Registro de Tratamientos, detecta Brechas y avisa los Vencimientos.</a:t>
            </a:r>
            <a:endParaRPr lang="en-US" sz="1600" dirty="0"/>
          </a:p>
        </p:txBody>
      </p:sp>
      <p:sp>
        <p:nvSpPr>
          <p:cNvPr id="13" name="tarjeta Principio"/>
          <p:cNvSpPr/>
          <p:nvPr/>
        </p:nvSpPr>
        <p:spPr>
          <a:xfrm>
            <a:off x="8119872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Principio fondo"/>
          <p:cNvSpPr/>
          <p:nvPr/>
        </p:nvSpPr>
        <p:spPr>
          <a:xfrm>
            <a:off x="9468612" y="164592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5" name="Principio" descr="Principi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18516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19872" y="2651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32004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lo confirma una Persona. El sistema ordena, revisa y recuerda; no decide.</a:t>
            </a:r>
            <a:endParaRPr lang="en-US" sz="1600" dirty="0"/>
          </a:p>
        </p:txBody>
      </p:sp>
      <p:sp>
        <p:nvSpPr>
          <p:cNvPr id="18" name="banner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4"/>
          <p:cNvSpPr txBox="1"/>
          <p:nvPr/>
        </p:nvSpPr>
        <p:spPr>
          <a:xfrm>
            <a:off x="822960" y="50749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N° 21.719: 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el 13 de Diciembre de 2024; entra en vigor el 1 de Diciembre de 2026*. Aplica a todas las Organizaciones que tratan Datos Personales.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Existe un proyecto de ley en tramitación que propone postergarla; a </a:t>
            </a:r>
            <a:r>
              <a:rPr lang="en-US" sz="1100" i="1" dirty="0" err="1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2026 no está aprobado.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</a:t>
            </a:r>
            <a:endParaRPr lang="en-US" sz="3200" dirty="0"/>
          </a:p>
        </p:txBody>
      </p:sp>
      <p:sp>
        <p:nvSpPr>
          <p:cNvPr id="3" name="paso Registrar"/>
          <p:cNvSpPr/>
          <p:nvPr/>
        </p:nvSpPr>
        <p:spPr>
          <a:xfrm>
            <a:off x="548640" y="15544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" name="Registrar fondo"/>
          <p:cNvSpPr/>
          <p:nvPr/>
        </p:nvSpPr>
        <p:spPr>
          <a:xfrm>
            <a:off x="1371600" y="182880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Registrar" descr="Registr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Datos se Tratan y por Qué?</a:t>
            </a:r>
            <a:endParaRPr lang="en-US" sz="1500" dirty="0"/>
          </a:p>
        </p:txBody>
      </p:sp>
      <p:pic>
        <p:nvPicPr>
          <p:cNvPr id="8" name="Image 1" descr="flech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697480"/>
            <a:ext cx="274320" cy="274320"/>
          </a:xfrm>
          <a:prstGeom prst="rect">
            <a:avLst/>
          </a:prstGeom>
        </p:spPr>
      </p:pic>
      <p:sp>
        <p:nvSpPr>
          <p:cNvPr id="9" name="paso Detectar Brechas"/>
          <p:cNvSpPr/>
          <p:nvPr/>
        </p:nvSpPr>
        <p:spPr>
          <a:xfrm>
            <a:off x="3383280" y="15544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Detectar Brechas fondo"/>
          <p:cNvSpPr/>
          <p:nvPr/>
        </p:nvSpPr>
        <p:spPr>
          <a:xfrm>
            <a:off x="4206240" y="182880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1" name="Detectar Brechas" descr="Detectar Brech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20345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832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Brechas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61188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según lo que Falte</a:t>
            </a:r>
            <a:endParaRPr lang="en-US" sz="1500" dirty="0"/>
          </a:p>
        </p:txBody>
      </p:sp>
      <p:pic>
        <p:nvPicPr>
          <p:cNvPr id="14" name="Image 3" descr="flech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697480"/>
            <a:ext cx="274320" cy="274320"/>
          </a:xfrm>
          <a:prstGeom prst="rect">
            <a:avLst/>
          </a:prstGeom>
        </p:spPr>
      </p:pic>
      <p:sp>
        <p:nvSpPr>
          <p:cNvPr id="15" name="paso Calcular Plazo"/>
          <p:cNvSpPr/>
          <p:nvPr/>
        </p:nvSpPr>
        <p:spPr>
          <a:xfrm>
            <a:off x="6217920" y="15544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Calcular Plazo fondo"/>
          <p:cNvSpPr/>
          <p:nvPr/>
        </p:nvSpPr>
        <p:spPr>
          <a:xfrm>
            <a:off x="7040880" y="182880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7" name="Calcular Plazo" descr="Calcular Plaz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203454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1792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Plazo</a:t>
            </a:r>
            <a:endParaRPr lang="en-US" sz="2000" dirty="0"/>
          </a:p>
        </p:txBody>
      </p:sp>
      <p:sp>
        <p:nvSpPr>
          <p:cNvPr id="19" name="Text 12"/>
          <p:cNvSpPr txBox="1"/>
          <p:nvPr/>
        </p:nvSpPr>
        <p:spPr>
          <a:xfrm>
            <a:off x="644652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Supresión y Avisos</a:t>
            </a:r>
            <a:endParaRPr lang="en-US" sz="1500" dirty="0"/>
          </a:p>
        </p:txBody>
      </p:sp>
      <p:pic>
        <p:nvPicPr>
          <p:cNvPr id="20" name="Image 5" descr="flech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697480"/>
            <a:ext cx="274320" cy="274320"/>
          </a:xfrm>
          <a:prstGeom prst="rect">
            <a:avLst/>
          </a:prstGeom>
        </p:spPr>
      </p:pic>
      <p:sp>
        <p:nvSpPr>
          <p:cNvPr id="21" name="paso Confirmar"/>
          <p:cNvSpPr/>
          <p:nvPr/>
        </p:nvSpPr>
        <p:spPr>
          <a:xfrm>
            <a:off x="9052560" y="15544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Confirmar fondo"/>
          <p:cNvSpPr/>
          <p:nvPr/>
        </p:nvSpPr>
        <p:spPr>
          <a:xfrm>
            <a:off x="9875520" y="182880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3" name="Confirmar" descr="Confirm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60" y="203454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05256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Confirmar</a:t>
            </a:r>
            <a:endParaRPr lang="en-US" sz="2000" dirty="0"/>
          </a:p>
        </p:txBody>
      </p:sp>
      <p:sp>
        <p:nvSpPr>
          <p:cNvPr id="25" name="Text 16"/>
          <p:cNvSpPr txBox="1"/>
          <p:nvPr/>
        </p:nvSpPr>
        <p:spPr>
          <a:xfrm>
            <a:off x="928116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Valida y Queda en Bitácora</a:t>
            </a:r>
            <a:endParaRPr lang="en-US" sz="1500" dirty="0"/>
          </a:p>
        </p:txBody>
      </p:sp>
      <p:sp>
        <p:nvSpPr>
          <p:cNvPr id="26" name="banner"/>
          <p:cNvSpPr/>
          <p:nvPr/>
        </p:nvSpPr>
        <p:spPr>
          <a:xfrm>
            <a:off x="548640" y="46634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18"/>
          <p:cNvSpPr txBox="1"/>
          <p:nvPr/>
        </p:nvSpPr>
        <p:spPr>
          <a:xfrm>
            <a:off x="822960" y="46634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Tratamiento queda con un Semáforo de Cumplimiento, una Fecha de Supresión y un Registro de quién lo Revisó.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Revisión</a:t>
            </a:r>
            <a:endParaRPr lang="en-US" sz="3200" dirty="0"/>
          </a:p>
        </p:txBody>
      </p:sp>
      <p:sp>
        <p:nvSpPr>
          <p:cNvPr id="3" name="criterio Base de Licitud"/>
          <p:cNvSpPr/>
          <p:nvPr/>
        </p:nvSpPr>
        <p:spPr>
          <a:xfrm>
            <a:off x="548640" y="1371600"/>
            <a:ext cx="2057400" cy="3749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" name="Base de Licitud fondo"/>
          <p:cNvSpPr/>
          <p:nvPr/>
        </p:nvSpPr>
        <p:spPr>
          <a:xfrm>
            <a:off x="1234440" y="1554480"/>
            <a:ext cx="685800" cy="68580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Base de Licitud" descr="Base de Licit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90" y="17259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Licitud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Legal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Legítimo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09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12 y 13</a:t>
            </a:r>
            <a:endParaRPr lang="en-US" sz="1100" dirty="0"/>
          </a:p>
        </p:txBody>
      </p:sp>
      <p:sp>
        <p:nvSpPr>
          <p:cNvPr id="9" name="criterio Categoría"/>
          <p:cNvSpPr/>
          <p:nvPr/>
        </p:nvSpPr>
        <p:spPr>
          <a:xfrm>
            <a:off x="2788920" y="1371600"/>
            <a:ext cx="2057400" cy="3749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Categoría fondo"/>
          <p:cNvSpPr/>
          <p:nvPr/>
        </p:nvSpPr>
        <p:spPr>
          <a:xfrm>
            <a:off x="3474720" y="1554480"/>
            <a:ext cx="685800" cy="68580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1" name="Categoría" descr="Categorí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17259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880360" y="28346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Común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4709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2 g) y 16</a:t>
            </a:r>
            <a:endParaRPr lang="en-US" sz="1100" dirty="0"/>
          </a:p>
        </p:txBody>
      </p:sp>
      <p:sp>
        <p:nvSpPr>
          <p:cNvPr id="15" name="criterio Titular"/>
          <p:cNvSpPr/>
          <p:nvPr/>
        </p:nvSpPr>
        <p:spPr>
          <a:xfrm>
            <a:off x="5029200" y="1371600"/>
            <a:ext cx="2057400" cy="3749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itular fondo"/>
          <p:cNvSpPr/>
          <p:nvPr/>
        </p:nvSpPr>
        <p:spPr>
          <a:xfrm>
            <a:off x="5715000" y="1554480"/>
            <a:ext cx="685800" cy="68580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7" name="Titular" descr="Titul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172593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2920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Titular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28346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Adolescentes (14-17)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 y Niñas (&lt;14)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0" y="4709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16 quáter</a:t>
            </a:r>
            <a:endParaRPr lang="en-US" sz="1100" dirty="0"/>
          </a:p>
        </p:txBody>
      </p:sp>
      <p:sp>
        <p:nvSpPr>
          <p:cNvPr id="21" name="criterio Tercero"/>
          <p:cNvSpPr/>
          <p:nvPr/>
        </p:nvSpPr>
        <p:spPr>
          <a:xfrm>
            <a:off x="7269480" y="1371600"/>
            <a:ext cx="2057400" cy="3749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rcero fondo"/>
          <p:cNvSpPr/>
          <p:nvPr/>
        </p:nvSpPr>
        <p:spPr>
          <a:xfrm>
            <a:off x="7955280" y="1554480"/>
            <a:ext cx="685800" cy="68580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3" name="Tercero" descr="Tercer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6730" y="172593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6948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Tercero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28346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Vigente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de Supresión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269480" y="4709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Encargados</a:t>
            </a:r>
            <a:endParaRPr lang="en-US" sz="1100" dirty="0"/>
          </a:p>
        </p:txBody>
      </p:sp>
      <p:sp>
        <p:nvSpPr>
          <p:cNvPr id="27" name="criterio Plazo"/>
          <p:cNvSpPr/>
          <p:nvPr/>
        </p:nvSpPr>
        <p:spPr>
          <a:xfrm>
            <a:off x="9509760" y="1371600"/>
            <a:ext cx="2057400" cy="3749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8" name="Plazo fondo"/>
          <p:cNvSpPr/>
          <p:nvPr/>
        </p:nvSpPr>
        <p:spPr>
          <a:xfrm>
            <a:off x="10195560" y="1554480"/>
            <a:ext cx="685800" cy="68580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9" name="Plazo" descr="Plaz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7010" y="1725930"/>
            <a:ext cx="342900" cy="3429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50976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Plazo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601200" y="28346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Conservación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Supresión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Previo de 30 Días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509760" y="4709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la Ley</a:t>
            </a:r>
            <a:endParaRPr lang="en-US" sz="1100" dirty="0"/>
          </a:p>
        </p:txBody>
      </p:sp>
      <p:sp>
        <p:nvSpPr>
          <p:cNvPr id="33" name="banne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27"/>
          <p:cNvSpPr txBox="1"/>
          <p:nvPr/>
        </p:nvSpPr>
        <p:spPr>
          <a:xfrm>
            <a:off x="822960" y="53949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 la Base de Licitud o hay Datos de Menores sin Consentimiento, el sistema marca una Brecha.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Categorías de Datos</a:t>
            </a:r>
            <a:endParaRPr lang="en-US" sz="3200" dirty="0"/>
          </a:p>
        </p:txBody>
      </p:sp>
      <p:sp>
        <p:nvSpPr>
          <p:cNvPr id="3" name="categoría Común"/>
          <p:cNvSpPr/>
          <p:nvPr/>
        </p:nvSpPr>
        <p:spPr>
          <a:xfrm>
            <a:off x="548640" y="13716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" name="Común fondo"/>
          <p:cNvSpPr/>
          <p:nvPr/>
        </p:nvSpPr>
        <p:spPr>
          <a:xfrm>
            <a:off x="1463040" y="164592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Común" descr="Comú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8516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Común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12 y 13</a:t>
            </a:r>
            <a:endParaRPr lang="en-US" sz="1200" dirty="0"/>
          </a:p>
        </p:txBody>
      </p:sp>
      <p:sp>
        <p:nvSpPr>
          <p:cNvPr id="9" name="categoría Económico"/>
          <p:cNvSpPr/>
          <p:nvPr/>
        </p:nvSpPr>
        <p:spPr>
          <a:xfrm>
            <a:off x="3383280" y="13716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Económico fondo"/>
          <p:cNvSpPr/>
          <p:nvPr/>
        </p:nvSpPr>
        <p:spPr>
          <a:xfrm>
            <a:off x="4297680" y="164592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1" name="Económico" descr="Económic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18516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Económico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Boletas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Deudas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Financieros</a:t>
            </a:r>
            <a:endParaRPr lang="en-US" sz="1200" dirty="0"/>
          </a:p>
        </p:txBody>
      </p:sp>
      <p:sp>
        <p:nvSpPr>
          <p:cNvPr id="15" name="categoría Sensible"/>
          <p:cNvSpPr/>
          <p:nvPr/>
        </p:nvSpPr>
        <p:spPr>
          <a:xfrm>
            <a:off x="6217920" y="13716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3C4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Sensible fondo"/>
          <p:cNvSpPr/>
          <p:nvPr/>
        </p:nvSpPr>
        <p:spPr>
          <a:xfrm>
            <a:off x="7132320" y="1645920"/>
            <a:ext cx="822960" cy="822960"/>
          </a:xfrm>
          <a:prstGeom prst="ellipse">
            <a:avLst/>
          </a:prstGeom>
          <a:solidFill>
            <a:srgbClr val="FFE69A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7" name="Sensible" descr="Sensi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8516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Sensible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Biométricos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Étnico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2 g) y 16</a:t>
            </a:r>
            <a:endParaRPr lang="en-US" sz="1200" dirty="0"/>
          </a:p>
        </p:txBody>
      </p:sp>
      <p:sp>
        <p:nvSpPr>
          <p:cNvPr id="21" name="categoría Geolocalización"/>
          <p:cNvSpPr/>
          <p:nvPr/>
        </p:nvSpPr>
        <p:spPr>
          <a:xfrm>
            <a:off x="9052560" y="13716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Geolocalización fondo"/>
          <p:cNvSpPr/>
          <p:nvPr/>
        </p:nvSpPr>
        <p:spPr>
          <a:xfrm>
            <a:off x="9966960" y="164592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3" name="Geolocalización" descr="Geolocalizació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0" y="185166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5256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Geolocalización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0525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27" name="banner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2"/>
          <p:cNvSpPr txBox="1"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Sensibles y los de Menores exigen más cuidado y Consentimiento Explícito.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200" dirty="0"/>
          </a:p>
        </p:txBody>
      </p:sp>
      <p:sp>
        <p:nvSpPr>
          <p:cNvPr id="3" name="marco modelo"/>
          <p:cNvSpPr/>
          <p:nvPr/>
        </p:nvSpPr>
        <p:spPr>
          <a:xfrm>
            <a:off x="548640" y="1371600"/>
            <a:ext cx="81381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4" name="Image 0" descr="Modelo entidad-relación de Transparen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5900"/>
            <a:ext cx="7955280" cy="3977640"/>
          </a:xfrm>
          <a:prstGeom prst="rect">
            <a:avLst/>
          </a:prstGeom>
        </p:spPr>
      </p:pic>
      <p:sp>
        <p:nvSpPr>
          <p:cNvPr id="5" name="panel tablas"/>
          <p:cNvSpPr/>
          <p:nvPr/>
        </p:nvSpPr>
        <p:spPr>
          <a:xfrm>
            <a:off x="8915400" y="1371600"/>
            <a:ext cx="2724912" cy="4206240"/>
          </a:xfrm>
          <a:prstGeom prst="roundRect">
            <a:avLst>
              <a:gd name="adj" fmla="val 4027"/>
            </a:avLst>
          </a:prstGeom>
          <a:solidFill>
            <a:srgbClr val="EAF5FB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3"/>
          <p:cNvSpPr txBox="1"/>
          <p:nvPr/>
        </p:nvSpPr>
        <p:spPr>
          <a:xfrm>
            <a:off x="91440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Tratamientos.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Encargados y Proveedores.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Registro: Datos, Finalidad, Base y Plazo.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BITACORA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4892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y Decisiones.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Tablas en SQLite, con Restricciones de Integridad. Datos 100% Ficticios.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Interfaz: Registro y Detalle</a:t>
            </a:r>
            <a:endParaRPr lang="en-US" sz="3200" dirty="0"/>
          </a:p>
        </p:txBody>
      </p:sp>
      <p:sp>
        <p:nvSpPr>
          <p:cNvPr id="3" name="marco Registro con Semáforo y Filtros"/>
          <p:cNvSpPr/>
          <p:nvPr/>
        </p:nvSpPr>
        <p:spPr>
          <a:xfrm>
            <a:off x="548640" y="13716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4" name="Image 0" descr="Vista previa: Registro con Semáforo y Filtr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39" y="1463040"/>
            <a:ext cx="4401161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con Semáforo y Filtros</a:t>
            </a:r>
            <a:endParaRPr lang="en-US" sz="1600" dirty="0"/>
          </a:p>
        </p:txBody>
      </p:sp>
      <p:sp>
        <p:nvSpPr>
          <p:cNvPr id="6" name="marco Detalle con Brechas y Decisión"/>
          <p:cNvSpPr/>
          <p:nvPr/>
        </p:nvSpPr>
        <p:spPr>
          <a:xfrm>
            <a:off x="6245352" y="13716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7" name="Image 1" descr="Vista previa: Detalle con Brechas y Decisió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528124"/>
            <a:ext cx="5212080" cy="38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con Brechas y Decisión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Previas del Diseño con Datos Ficticios de una Empresa del Rubro TI.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Interfaz: Nuevo Registro y Bitácora</a:t>
            </a:r>
            <a:endParaRPr lang="en-US" sz="3200" dirty="0"/>
          </a:p>
        </p:txBody>
      </p:sp>
      <p:sp>
        <p:nvSpPr>
          <p:cNvPr id="3" name="marco Formulario de Nuevo Registro"/>
          <p:cNvSpPr/>
          <p:nvPr/>
        </p:nvSpPr>
        <p:spPr>
          <a:xfrm>
            <a:off x="548640" y="13716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4" name="Image 0" descr="Vista previa: Formulario de Nuevo Regist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14353"/>
            <a:ext cx="5212080" cy="36292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 de Nuevo Registro</a:t>
            </a:r>
            <a:endParaRPr lang="en-US" sz="1600" dirty="0"/>
          </a:p>
        </p:txBody>
      </p:sp>
      <p:sp>
        <p:nvSpPr>
          <p:cNvPr id="6" name="marco Bitácora de Acciones"/>
          <p:cNvSpPr/>
          <p:nvPr/>
        </p:nvSpPr>
        <p:spPr>
          <a:xfrm>
            <a:off x="6245352" y="13716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7" name="Image 1" descr="Vista previa: Bitácora de Accion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781063"/>
            <a:ext cx="5212080" cy="32958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Bitácora de Acciones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Previas del Diseño con Datos Ficticios de una Empresa del Rubro TI.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3200" dirty="0"/>
          </a:p>
        </p:txBody>
      </p:sp>
      <p:sp>
        <p:nvSpPr>
          <p:cNvPr id="3" name="tecnología Python"/>
          <p:cNvSpPr/>
          <p:nvPr/>
        </p:nvSpPr>
        <p:spPr>
          <a:xfrm>
            <a:off x="548640" y="14630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" name="Python fondo"/>
          <p:cNvSpPr/>
          <p:nvPr/>
        </p:nvSpPr>
        <p:spPr>
          <a:xfrm>
            <a:off x="1897380" y="173736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Python" descr="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Lógica, Reglas y Plazos</a:t>
            </a:r>
            <a:endParaRPr lang="en-US" sz="1600" dirty="0"/>
          </a:p>
        </p:txBody>
      </p:sp>
      <p:sp>
        <p:nvSpPr>
          <p:cNvPr id="8" name="tecnología SQLite"/>
          <p:cNvSpPr/>
          <p:nvPr/>
        </p:nvSpPr>
        <p:spPr>
          <a:xfrm>
            <a:off x="4334256" y="14630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SQLite fondo"/>
          <p:cNvSpPr/>
          <p:nvPr/>
        </p:nvSpPr>
        <p:spPr>
          <a:xfrm>
            <a:off x="5682996" y="173736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0" name="SQLite" descr="SQLi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9431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34256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Local</a:t>
            </a:r>
            <a:endParaRPr lang="en-US" sz="1600" dirty="0"/>
          </a:p>
        </p:txBody>
      </p:sp>
      <p:sp>
        <p:nvSpPr>
          <p:cNvPr id="13" name="tecnología HTML + Flask"/>
          <p:cNvSpPr/>
          <p:nvPr/>
        </p:nvSpPr>
        <p:spPr>
          <a:xfrm>
            <a:off x="8119872" y="14630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HTML + Flask fondo"/>
          <p:cNvSpPr/>
          <p:nvPr/>
        </p:nvSpPr>
        <p:spPr>
          <a:xfrm>
            <a:off x="9468612" y="1737360"/>
            <a:ext cx="822960" cy="82296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5" name="HTML + Flask" descr="HTML + Flas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19431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19872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Flask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</a:t>
            </a:r>
            <a:endParaRPr lang="en-US" sz="1600" dirty="0"/>
          </a:p>
        </p:txBody>
      </p:sp>
      <p:sp>
        <p:nvSpPr>
          <p:cNvPr id="18" name="banner"/>
          <p:cNvSpPr/>
          <p:nvPr/>
        </p:nvSpPr>
        <p:spPr>
          <a:xfrm>
            <a:off x="548640" y="443484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4"/>
          <p:cNvSpPr txBox="1"/>
          <p:nvPr/>
        </p:nvSpPr>
        <p:spPr>
          <a:xfrm>
            <a:off x="822960" y="4434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Gratuitas, 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 computador, con Datos Ficticios y Versionado en GitHub.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 Actual: </a:t>
            </a: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Usuarios, Solicitudes de los Titulares y Base de Producción. La IA Local queda como Proyección Futura. </a:t>
            </a:r>
            <a:r>
              <a:rPr lang="en-US" sz="13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Diseños y Vistas Previas se elaboraron con apoyo de IA Generativa; las decisiones y la revisión son mías.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y Estado</a:t>
            </a:r>
            <a:endParaRPr lang="en-US" sz="3200" dirty="0"/>
          </a:p>
        </p:txBody>
      </p:sp>
      <p:sp>
        <p:nvSpPr>
          <p:cNvPr id="3" name="fila OE1"/>
          <p:cNvSpPr/>
          <p:nvPr/>
        </p:nvSpPr>
        <p:spPr>
          <a:xfrm>
            <a:off x="548640" y="13716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" name="OE1 fondo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OE1" descr="O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la Ley</a:t>
            </a:r>
            <a:endParaRPr lang="en-US" sz="1800" dirty="0"/>
          </a:p>
        </p:txBody>
      </p:sp>
      <p:sp>
        <p:nvSpPr>
          <p:cNvPr id="8" name="estado OE1"/>
          <p:cNvSpPr/>
          <p:nvPr/>
        </p:nvSpPr>
        <p:spPr>
          <a:xfrm>
            <a:off x="9326880" y="15087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E69A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 txBox="1"/>
          <p:nvPr/>
        </p:nvSpPr>
        <p:spPr>
          <a:xfrm>
            <a:off x="932688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500" dirty="0"/>
          </a:p>
        </p:txBody>
      </p:sp>
      <p:sp>
        <p:nvSpPr>
          <p:cNvPr id="10" name="fila OE2"/>
          <p:cNvSpPr/>
          <p:nvPr/>
        </p:nvSpPr>
        <p:spPr>
          <a:xfrm>
            <a:off x="548640" y="2267712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OE2 fondo"/>
          <p:cNvSpPr/>
          <p:nvPr/>
        </p:nvSpPr>
        <p:spPr>
          <a:xfrm>
            <a:off x="731520" y="2359152"/>
            <a:ext cx="548640" cy="54864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OE2" descr="OE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963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2677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26771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Datos</a:t>
            </a:r>
            <a:endParaRPr lang="en-US" sz="1800" dirty="0"/>
          </a:p>
        </p:txBody>
      </p:sp>
      <p:sp>
        <p:nvSpPr>
          <p:cNvPr id="15" name="estado OE2"/>
          <p:cNvSpPr/>
          <p:nvPr/>
        </p:nvSpPr>
        <p:spPr>
          <a:xfrm>
            <a:off x="9326880" y="240487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2"/>
          <p:cNvSpPr txBox="1"/>
          <p:nvPr/>
        </p:nvSpPr>
        <p:spPr>
          <a:xfrm>
            <a:off x="9326880" y="2404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500" dirty="0"/>
          </a:p>
        </p:txBody>
      </p:sp>
      <p:sp>
        <p:nvSpPr>
          <p:cNvPr id="17" name="fila OE3"/>
          <p:cNvSpPr/>
          <p:nvPr/>
        </p:nvSpPr>
        <p:spPr>
          <a:xfrm>
            <a:off x="548640" y="3163824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OE3 fondo"/>
          <p:cNvSpPr/>
          <p:nvPr/>
        </p:nvSpPr>
        <p:spPr>
          <a:xfrm>
            <a:off x="731520" y="3255264"/>
            <a:ext cx="548640" cy="54864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9" name="OE3" descr="OE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9242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316382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OE3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2560320" y="316382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800" dirty="0"/>
          </a:p>
        </p:txBody>
      </p:sp>
      <p:sp>
        <p:nvSpPr>
          <p:cNvPr id="22" name="estado OE3"/>
          <p:cNvSpPr/>
          <p:nvPr/>
        </p:nvSpPr>
        <p:spPr>
          <a:xfrm>
            <a:off x="9326880" y="3300984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18"/>
          <p:cNvSpPr txBox="1"/>
          <p:nvPr/>
        </p:nvSpPr>
        <p:spPr>
          <a:xfrm>
            <a:off x="9326880" y="33009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500" dirty="0"/>
          </a:p>
        </p:txBody>
      </p:sp>
      <p:sp>
        <p:nvSpPr>
          <p:cNvPr id="24" name="fila OE4"/>
          <p:cNvSpPr/>
          <p:nvPr/>
        </p:nvSpPr>
        <p:spPr>
          <a:xfrm>
            <a:off x="548640" y="4059936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5" name="OE4 fondo"/>
          <p:cNvSpPr/>
          <p:nvPr/>
        </p:nvSpPr>
        <p:spPr>
          <a:xfrm>
            <a:off x="731520" y="4151376"/>
            <a:ext cx="548640" cy="54864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6" name="OE4" descr="OE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8853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54480" y="405993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OE4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2560320" y="4059936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800" dirty="0"/>
          </a:p>
        </p:txBody>
      </p:sp>
      <p:sp>
        <p:nvSpPr>
          <p:cNvPr id="29" name="estado OE4"/>
          <p:cNvSpPr/>
          <p:nvPr/>
        </p:nvSpPr>
        <p:spPr>
          <a:xfrm>
            <a:off x="9326880" y="4197096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E69A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4"/>
          <p:cNvSpPr txBox="1"/>
          <p:nvPr/>
        </p:nvSpPr>
        <p:spPr>
          <a:xfrm>
            <a:off x="9326880" y="4197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500" dirty="0"/>
          </a:p>
        </p:txBody>
      </p:sp>
      <p:sp>
        <p:nvSpPr>
          <p:cNvPr id="31" name="fila OE5"/>
          <p:cNvSpPr/>
          <p:nvPr/>
        </p:nvSpPr>
        <p:spPr>
          <a:xfrm>
            <a:off x="548640" y="4956048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2" name="OE5 fondo"/>
          <p:cNvSpPr/>
          <p:nvPr/>
        </p:nvSpPr>
        <p:spPr>
          <a:xfrm>
            <a:off x="731520" y="5047488"/>
            <a:ext cx="548640" cy="548640"/>
          </a:xfrm>
          <a:prstGeom prst="ellipse">
            <a:avLst/>
          </a:prstGeom>
          <a:solidFill>
            <a:srgbClr val="A9D6EA"/>
          </a:solidFill>
          <a:ln w="127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33" name="OE5" descr="OE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18464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554480" y="495604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OE5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2560320" y="495604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800" dirty="0"/>
          </a:p>
        </p:txBody>
      </p:sp>
      <p:sp>
        <p:nvSpPr>
          <p:cNvPr id="36" name="estado OE5"/>
          <p:cNvSpPr/>
          <p:nvPr/>
        </p:nvSpPr>
        <p:spPr>
          <a:xfrm>
            <a:off x="9326880" y="5093208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D5DEE8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0"/>
          <p:cNvSpPr txBox="1"/>
          <p:nvPr/>
        </p:nvSpPr>
        <p:spPr>
          <a:xfrm>
            <a:off x="9326880" y="5093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Iniciar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según el Informe de Avance del 19 de Octubre de 2026.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80160" y="2651760"/>
            <a:ext cx="9601200" cy="0"/>
          </a:xfrm>
          <a:prstGeom prst="line">
            <a:avLst/>
          </a:prstGeom>
          <a:noFill/>
          <a:ln w="381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hito 1"/>
          <p:cNvSpPr/>
          <p:nvPr/>
        </p:nvSpPr>
        <p:spPr>
          <a:xfrm>
            <a:off x="1078992" y="2450592"/>
            <a:ext cx="402336" cy="402336"/>
          </a:xfrm>
          <a:prstGeom prst="ellipse">
            <a:avLst/>
          </a:prstGeom>
          <a:solidFill>
            <a:srgbClr val="FFE69A"/>
          </a:solidFill>
          <a:ln w="38100">
            <a:solidFill>
              <a:srgbClr val="E0B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1828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– 21 Oct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Diseño: Datos, Proceso e Interfaz</a:t>
            </a:r>
            <a:endParaRPr lang="en-US" sz="1500" dirty="0"/>
          </a:p>
        </p:txBody>
      </p:sp>
      <p:sp>
        <p:nvSpPr>
          <p:cNvPr id="7" name="hito 2"/>
          <p:cNvSpPr/>
          <p:nvPr/>
        </p:nvSpPr>
        <p:spPr>
          <a:xfrm>
            <a:off x="3479292" y="245059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25831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 – 8 Nov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2890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</a:t>
            </a:r>
            <a:endParaRPr lang="en-US" sz="1500" dirty="0"/>
          </a:p>
        </p:txBody>
      </p:sp>
      <p:sp>
        <p:nvSpPr>
          <p:cNvPr id="10" name="hito 3"/>
          <p:cNvSpPr/>
          <p:nvPr/>
        </p:nvSpPr>
        <p:spPr>
          <a:xfrm>
            <a:off x="5879592" y="245059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 txBox="1"/>
          <p:nvPr/>
        </p:nvSpPr>
        <p:spPr>
          <a:xfrm>
            <a:off x="49834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15 Nov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Casos</a:t>
            </a:r>
            <a:endParaRPr lang="en-US" sz="1500" dirty="0"/>
          </a:p>
        </p:txBody>
      </p:sp>
      <p:sp>
        <p:nvSpPr>
          <p:cNvPr id="13" name="hito 4"/>
          <p:cNvSpPr/>
          <p:nvPr/>
        </p:nvSpPr>
        <p:spPr>
          <a:xfrm>
            <a:off x="8279892" y="245059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 txBox="1"/>
          <p:nvPr/>
        </p:nvSpPr>
        <p:spPr>
          <a:xfrm>
            <a:off x="73837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– 30 Nov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2950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e Informe</a:t>
            </a:r>
            <a:endParaRPr lang="en-US" sz="1500" dirty="0"/>
          </a:p>
        </p:txBody>
      </p:sp>
      <p:sp>
        <p:nvSpPr>
          <p:cNvPr id="16" name="hito 5"/>
          <p:cNvSpPr/>
          <p:nvPr/>
        </p:nvSpPr>
        <p:spPr>
          <a:xfrm>
            <a:off x="10680192" y="245059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9D6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 txBox="1"/>
          <p:nvPr/>
        </p:nvSpPr>
        <p:spPr>
          <a:xfrm>
            <a:off x="97840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Final</a:t>
            </a:r>
            <a:endParaRPr lang="en-US" sz="1500" dirty="0"/>
          </a:p>
        </p:txBody>
      </p:sp>
      <p:sp>
        <p:nvSpPr>
          <p:cNvPr id="19" name="evaluación 3"/>
          <p:cNvSpPr/>
          <p:nvPr/>
        </p:nvSpPr>
        <p:spPr>
          <a:xfrm>
            <a:off x="548640" y="42976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 txBox="1"/>
          <p:nvPr/>
        </p:nvSpPr>
        <p:spPr>
          <a:xfrm>
            <a:off x="822960" y="42976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3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 Noviembre</a:t>
            </a:r>
            <a:endParaRPr lang="en-US" sz="2000" dirty="0"/>
          </a:p>
        </p:txBody>
      </p:sp>
      <p:sp>
        <p:nvSpPr>
          <p:cNvPr id="21" name="evaluación 4"/>
          <p:cNvSpPr/>
          <p:nvPr/>
        </p:nvSpPr>
        <p:spPr>
          <a:xfrm>
            <a:off x="6245352" y="42976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6F2"/>
            </a:solidFill>
            <a:prstDash val="solid"/>
          </a:ln>
          <a:effectLst>
            <a:outerShdw blurRad="76200" dist="25400" dir="5400000" algn="bl" rotWithShape="0">
              <a:srgbClr val="7A99B0">
                <a:alpha val="25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 txBox="1"/>
          <p:nvPr/>
        </p:nvSpPr>
        <p:spPr>
          <a:xfrm>
            <a:off x="6519672" y="42976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4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Diciembre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Semanal en la Tabla de Monitoreo para Detectar Atrasos a Tiempo.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uoc U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389" y="357779"/>
            <a:ext cx="1720107" cy="381722"/>
          </a:xfrm>
          <a:prstGeom prst="rect">
            <a:avLst/>
          </a:prstGeom>
        </p:spPr>
      </p:pic>
      <p:pic>
        <p:nvPicPr>
          <p:cNvPr id="3" name="Image 1" descr="Logo Transparen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822960"/>
            <a:ext cx="4297680" cy="976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Detrás de Cada Dato Hay una Persona.</a:t>
            </a:r>
            <a:endParaRPr lang="en-US" sz="2800" dirty="0"/>
          </a:p>
        </p:txBody>
      </p:sp>
      <p:sp>
        <p:nvSpPr>
          <p:cNvPr id="5" name="chip Privacidad"/>
          <p:cNvSpPr/>
          <p:nvPr/>
        </p:nvSpPr>
        <p:spPr>
          <a:xfrm>
            <a:off x="1737360" y="3566160"/>
            <a:ext cx="3017520" cy="777240"/>
          </a:xfrm>
          <a:prstGeom prst="roundRect">
            <a:avLst>
              <a:gd name="adj" fmla="val 49412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mage 2" descr="Privacid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813048"/>
            <a:ext cx="274320" cy="274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46888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1800" dirty="0"/>
          </a:p>
        </p:txBody>
      </p:sp>
      <p:sp>
        <p:nvSpPr>
          <p:cNvPr id="8" name="chip Trazabilidad"/>
          <p:cNvSpPr/>
          <p:nvPr/>
        </p:nvSpPr>
        <p:spPr>
          <a:xfrm>
            <a:off x="5029200" y="3566160"/>
            <a:ext cx="3017520" cy="777240"/>
          </a:xfrm>
          <a:prstGeom prst="roundRect">
            <a:avLst>
              <a:gd name="adj" fmla="val 49412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9" name="Image 3" descr="Trazabilida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813048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76072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800" dirty="0"/>
          </a:p>
        </p:txBody>
      </p:sp>
      <p:sp>
        <p:nvSpPr>
          <p:cNvPr id="11" name="chip Control Humano"/>
          <p:cNvSpPr/>
          <p:nvPr/>
        </p:nvSpPr>
        <p:spPr>
          <a:xfrm>
            <a:off x="8321040" y="3566160"/>
            <a:ext cx="3017520" cy="777240"/>
          </a:xfrm>
          <a:prstGeom prst="roundRect">
            <a:avLst>
              <a:gd name="adj" fmla="val 49412"/>
            </a:avLst>
          </a:prstGeom>
          <a:solidFill>
            <a:srgbClr val="FFF3C4"/>
          </a:solidFill>
          <a:ln w="12700">
            <a:solidFill>
              <a:srgbClr val="FFE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Image 4" descr="Control Human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3813048"/>
            <a:ext cx="274320" cy="2743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05256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</a:t>
            </a:r>
            <a:endParaRPr lang="en-US" sz="1800" dirty="0"/>
          </a:p>
        </p:txBody>
      </p:sp>
      <p:sp>
        <p:nvSpPr>
          <p:cNvPr id="14" name="Text 7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y Comentarios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Ley N° 21.719 (BCN); </a:t>
            </a:r>
            <a:r>
              <a:rPr lang="en-US" sz="1100" dirty="0" err="1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 (Actualidad Legal); Material de Gobernanza, Regulación y Ética de Datos.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parenta Pastel">
  <a:themeElements>
    <a:clrScheme name="Transparenta Pastel">
      <a:dk1>
        <a:srgbClr val="1F3A5F"/>
      </a:dk1>
      <a:lt1>
        <a:srgbClr val="FFFFFF"/>
      </a:lt1>
      <a:dk2>
        <a:srgbClr val="1F3A5F"/>
      </a:dk2>
      <a:lt2>
        <a:srgbClr val="EAF5FB"/>
      </a:lt2>
      <a:accent1>
        <a:srgbClr val="A9D6EA"/>
      </a:accent1>
      <a:accent2>
        <a:srgbClr val="FFE69A"/>
      </a:accent2>
      <a:accent3>
        <a:srgbClr val="BFE3F2"/>
      </a:accent3>
      <a:accent4>
        <a:srgbClr val="7FC4E6"/>
      </a:accent4>
      <a:accent5>
        <a:srgbClr val="6B7C93"/>
      </a:accent5>
      <a:accent6>
        <a:srgbClr val="FFF3C4"/>
      </a:accent6>
      <a:hlink>
        <a:srgbClr val="1F3A5F"/>
      </a:hlink>
      <a:folHlink>
        <a:srgbClr val="6B7C93"/>
      </a:folHlink>
    </a:clrScheme>
    <a:fontScheme name="Transparenta Past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922</Words>
  <Application>Microsoft Office PowerPoint</Application>
  <PresentationFormat>Panorámica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Transparenta Pastel</vt:lpstr>
      <vt:lpstr>Presentación de PowerPoint</vt:lpstr>
      <vt:lpstr>Problemática y Propuesta</vt:lpstr>
      <vt:lpstr>Funcionamiento</vt:lpstr>
      <vt:lpstr>Criterios de Revisión</vt:lpstr>
      <vt:lpstr>Categorías de Datos</vt:lpstr>
      <vt:lpstr>Modelo de Datos</vt:lpstr>
      <vt:lpstr>Interfaz: Registro y Detalle</vt:lpstr>
      <vt:lpstr>Interfaz: Nuevo Registro y Bitácora</vt:lpstr>
      <vt:lpstr>Tecnología</vt:lpstr>
      <vt:lpstr>Objetivos y Estado</vt:lpstr>
      <vt:lpstr>Plan de Trabajo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Transparenta - Presentación del Proyecto APT</dc:title>
  <dc:subject>PptxGenJS Presentation</dc:subject>
  <dc:creator>Josefa Vallejos Sánchez</dc:creator>
  <cp:lastModifiedBy>JOSEFA ANDREA VALLEJOS SANCHEZ</cp:lastModifiedBy>
  <cp:revision>5</cp:revision>
  <dcterms:created xsi:type="dcterms:W3CDTF">2026-10-28T06:22:56Z</dcterms:created>
  <dcterms:modified xsi:type="dcterms:W3CDTF">2026-10-28T06:28:03Z</dcterms:modified>
</cp:coreProperties>
</file>